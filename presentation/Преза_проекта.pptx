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 стенд оценки. 180 размеченных кейсов делятся на 8 категорий обращений, каждая проверяет свой аспект агента. Качество измеряем пятью метриками. Citation считается только для citable-категорий.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в два этапа. Индексация делается один раз: 5 регламентов режутся section-aware чанкингом с сохранением doc_id, section_id и тега scope, эмбеддятся GigaChat-ом в 1024 измерения и кладутся в Chroma. На каждом запросе — эмбеддинг запроса, retrieve с k=8 и опциональным product_filter, top-k чанков идут в генерацию. Коллизии общего и продуктового правила разрешает LLM на генерации — приоритет у продуктового.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Качество поиска меряем recall@k — долей кейсов, где хотя бы один эталонный пункт нормативки попал в top-k. Грунтинг по содержательным категориям: recall@5 почти 79%, recall@8 — почти 87%, а в проде мы ретривим с k=8. На edge_conflict при k=8 — 100%. Поведенческие категории в итог не входят, размытый общий recall 64% для оценки retrieval не используем.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Помимо вероятностной оценки есть детерминированный слой: 4 группы, 16 проверок, все зелёные. Они проверяют инструменты и БД, состояние и стык с RAG, маршрутизацию графа и безопасность, и сборку пакета эскалации. Ключевое: предохранители работают поверх LLM и не зависят от стохастики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Маршрутизация — граф LangGraph. classify — единая точка входа: определяет категорию и запускает детекторы безопасности, дальше условные переходы. Эскалация или манипуляция уходят в escalate; нужны данные клиента — query_db; нужна нормативка — retrieve_rag; не нужно ни то ни другое — сразу generate_answer. Транзакционный кейс цепляет query_db → retrieve_rag → generate_answer. На выходе либо ответ с грунтингом, либо пакет оператору.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Сквозная оценка всех 180 кейсов через граф. База — GigaChat-Pro, судья — GigaChat Lite, один прогон с кэшем. Итог: category 77, outcome 84, citation 71, judge 87. Сильные стороны — эскалации и offtopic. Низкие category у edge_no_data и edge_conflict объяснимы: модель отвечает как на info, и эталонный исход тоже info — по сути ответы корректны. Числа стохастичны, плюс-минус пара пунктов между прогонами — норма.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571500"/>
            <a:ext cx="400050" cy="400050"/>
          </a:xfrm>
          <a:prstGeom prst="roundRect">
            <a:avLst>
              <a:gd name="adj" fmla="val 30952"/>
            </a:avLst>
          </a:prstGeom>
          <a:gradFill rotWithShape="1">
            <a:gsLst>
              <a:gs pos="0">
                <a:srgbClr val="39B14C">
                  <a:alpha val="100000"/>
                </a:srgbClr>
              </a:gs>
              <a:gs pos="100000">
                <a:srgbClr val="2E7D32">
                  <a:alpha val="100000"/>
                </a:srgbClr>
              </a:gs>
            </a:gsLst>
            <a:lin ang="3600000" scaled="0"/>
          </a:gradFill>
          <a:ln/>
          <a:effectLst>
            <a:outerShdw sx="100000" sy="100000" kx="0" ky="0" algn="bl" rotWithShape="0" blurRad="133350" dist="47625" dir="5400000">
              <a:srgbClr val="2E7D32">
                <a:alpha val="2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85838" y="752475"/>
            <a:ext cx="28575" cy="1428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 rot="-720001">
            <a:off x="876300" y="676275"/>
            <a:ext cx="114300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 rot="720001">
            <a:off x="1009650" y="676275"/>
            <a:ext cx="114300" cy="1143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23975" y="607219"/>
            <a:ext cx="85375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МСБ</a:t>
            </a:r>
            <a:pPr algn="l" indent="0" marL="0">
              <a:buNone/>
            </a:pPr>
            <a:r>
              <a:rPr lang="en-US" sz="1875" b="1" spc="-19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.ai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4236080" y="616744"/>
            <a:ext cx="357700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LLM-АГЕНТА · 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0100" y="1143000"/>
            <a:ext cx="18356580" cy="6404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650" b="1" spc="-70" kern="0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мы оцениваем </a:t>
            </a:r>
            <a:pPr algn="l" indent="0" marL="0">
              <a:lnSpc>
                <a:spcPct val="102000"/>
              </a:lnSpc>
              <a:buNone/>
            </a:pPr>
            <a:r>
              <a:rPr lang="en-US" sz="4650" b="1" spc="-70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агента</a:t>
            </a:r>
            <a:endParaRPr lang="en-US" sz="4650" dirty="0"/>
          </a:p>
        </p:txBody>
      </p:sp>
      <p:sp>
        <p:nvSpPr>
          <p:cNvPr id="9" name="Text 7"/>
          <p:cNvSpPr/>
          <p:nvPr/>
        </p:nvSpPr>
        <p:spPr>
          <a:xfrm>
            <a:off x="800100" y="1878657"/>
            <a:ext cx="183565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C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категорий обращений × 5 метрик качества. Датасет — 180 размеченных кейсов.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800100" y="2464445"/>
            <a:ext cx="1024159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категорий обращений </a:t>
            </a:r>
            <a:pPr algn="l" indent="0" marL="0">
              <a:buNone/>
            </a:pPr>
            <a:r>
              <a:rPr lang="en-US" sz="2025" b="1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 = 180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800100" y="2931170"/>
            <a:ext cx="9310539" cy="476250"/>
          </a:xfrm>
          <a:prstGeom prst="rect">
            <a:avLst/>
          </a:prstGeom>
          <a:solidFill>
            <a:srgbClr val="EAF5EC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3035945"/>
            <a:ext cx="26933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7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68105" y="3035945"/>
            <a:ext cx="476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53905" y="3035945"/>
            <a:ext cx="56786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7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проверяет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0100" y="4145607"/>
            <a:ext cx="291085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3493145"/>
            <a:ext cx="2693381" cy="604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10955" y="4145607"/>
            <a:ext cx="590550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8" name="Text 16"/>
          <p:cNvSpPr/>
          <p:nvPr/>
        </p:nvSpPr>
        <p:spPr>
          <a:xfrm>
            <a:off x="3768105" y="3493145"/>
            <a:ext cx="476250" cy="604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01505" y="4145607"/>
            <a:ext cx="5809134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20" name="Text 18"/>
          <p:cNvSpPr/>
          <p:nvPr/>
        </p:nvSpPr>
        <p:spPr>
          <a:xfrm>
            <a:off x="4453905" y="3493145"/>
            <a:ext cx="5678608" cy="604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Информационные ответы: продукты, документы, процессы — работа RAG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00100" y="4898082"/>
            <a:ext cx="291085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4240857"/>
            <a:ext cx="269338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transactional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710955" y="4898082"/>
            <a:ext cx="590550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24" name="Text 22"/>
          <p:cNvSpPr/>
          <p:nvPr/>
        </p:nvSpPr>
        <p:spPr>
          <a:xfrm>
            <a:off x="3768105" y="4240857"/>
            <a:ext cx="4762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301505" y="4898082"/>
            <a:ext cx="5809134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26" name="Text 24"/>
          <p:cNvSpPr/>
          <p:nvPr/>
        </p:nvSpPr>
        <p:spPr>
          <a:xfrm>
            <a:off x="4453905" y="4240857"/>
            <a:ext cx="567860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Запросы про конкретного клиента — RAG + данные из БД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0100" y="5379095"/>
            <a:ext cx="291085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" y="4993332"/>
            <a:ext cx="269338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escalation_sales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710955" y="5379095"/>
            <a:ext cx="590550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30" name="Text 28"/>
          <p:cNvSpPr/>
          <p:nvPr/>
        </p:nvSpPr>
        <p:spPr>
          <a:xfrm>
            <a:off x="3768105" y="4993332"/>
            <a:ext cx="4762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301505" y="5379095"/>
            <a:ext cx="5809134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32" name="Text 30"/>
          <p:cNvSpPr/>
          <p:nvPr/>
        </p:nvSpPr>
        <p:spPr>
          <a:xfrm>
            <a:off x="4453905" y="4993332"/>
            <a:ext cx="567860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Триггер эскалации «намерение оформить продукт»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00100" y="5860107"/>
            <a:ext cx="291085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34" name="Text 32"/>
          <p:cNvSpPr/>
          <p:nvPr/>
        </p:nvSpPr>
        <p:spPr>
          <a:xfrm>
            <a:off x="952500" y="5474345"/>
            <a:ext cx="269338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escalation_negative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710955" y="5860107"/>
            <a:ext cx="590550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36" name="Text 34"/>
          <p:cNvSpPr/>
          <p:nvPr/>
        </p:nvSpPr>
        <p:spPr>
          <a:xfrm>
            <a:off x="3768105" y="5474345"/>
            <a:ext cx="4762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301505" y="5860107"/>
            <a:ext cx="5809134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38" name="Text 36"/>
          <p:cNvSpPr/>
          <p:nvPr/>
        </p:nvSpPr>
        <p:spPr>
          <a:xfrm>
            <a:off x="4453905" y="5474345"/>
            <a:ext cx="567860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Триггер эскалации «негатив клиента»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00100" y="6341120"/>
            <a:ext cx="291085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40" name="Text 38"/>
          <p:cNvSpPr/>
          <p:nvPr/>
        </p:nvSpPr>
        <p:spPr>
          <a:xfrm>
            <a:off x="952500" y="5955357"/>
            <a:ext cx="269338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edge_no_data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3710955" y="6341120"/>
            <a:ext cx="590550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42" name="Text 40"/>
          <p:cNvSpPr/>
          <p:nvPr/>
        </p:nvSpPr>
        <p:spPr>
          <a:xfrm>
            <a:off x="3768105" y="5955357"/>
            <a:ext cx="4762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301505" y="6341120"/>
            <a:ext cx="5809134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44" name="Text 42"/>
          <p:cNvSpPr/>
          <p:nvPr/>
        </p:nvSpPr>
        <p:spPr>
          <a:xfrm>
            <a:off x="4453905" y="5955357"/>
            <a:ext cx="567860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Корректный отказ по вопросам вне нормативки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00100" y="7093595"/>
            <a:ext cx="291085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46" name="Text 44"/>
          <p:cNvSpPr/>
          <p:nvPr/>
        </p:nvSpPr>
        <p:spPr>
          <a:xfrm>
            <a:off x="952500" y="6436370"/>
            <a:ext cx="269338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edge_conflict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3710955" y="7093595"/>
            <a:ext cx="590550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48" name="Text 46"/>
          <p:cNvSpPr/>
          <p:nvPr/>
        </p:nvSpPr>
        <p:spPr>
          <a:xfrm>
            <a:off x="3768105" y="6436370"/>
            <a:ext cx="4762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4301505" y="7093595"/>
            <a:ext cx="5809134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50" name="Text 48"/>
          <p:cNvSpPr/>
          <p:nvPr/>
        </p:nvSpPr>
        <p:spPr>
          <a:xfrm>
            <a:off x="4453905" y="6436370"/>
            <a:ext cx="567860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Коллизия общего и продуктового правила (приоритет — продуктовому)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00100" y="7574607"/>
            <a:ext cx="291085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52" name="Text 50"/>
          <p:cNvSpPr/>
          <p:nvPr/>
        </p:nvSpPr>
        <p:spPr>
          <a:xfrm>
            <a:off x="952500" y="7188845"/>
            <a:ext cx="269338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edge_manipulation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3710955" y="7574607"/>
            <a:ext cx="590550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54" name="Text 52"/>
          <p:cNvSpPr/>
          <p:nvPr/>
        </p:nvSpPr>
        <p:spPr>
          <a:xfrm>
            <a:off x="3768105" y="7188845"/>
            <a:ext cx="4762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4301505" y="7574607"/>
            <a:ext cx="5809134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56" name="Text 54"/>
          <p:cNvSpPr/>
          <p:nvPr/>
        </p:nvSpPr>
        <p:spPr>
          <a:xfrm>
            <a:off x="4453905" y="7188845"/>
            <a:ext cx="567860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Манипуляции, запрос чужих данных, prompt injection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952500" y="7669857"/>
            <a:ext cx="26933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offtopic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3768105" y="7669857"/>
            <a:ext cx="4762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4453905" y="7669857"/>
            <a:ext cx="56786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Вежливое закрытие нерелевантных тем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0434489" y="2464445"/>
            <a:ext cx="775875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метрик качества</a:t>
            </a:r>
            <a:endParaRPr lang="en-US" sz="2025" dirty="0"/>
          </a:p>
        </p:txBody>
      </p:sp>
      <p:sp>
        <p:nvSpPr>
          <p:cNvPr id="61" name="Shape 59"/>
          <p:cNvSpPr/>
          <p:nvPr/>
        </p:nvSpPr>
        <p:spPr>
          <a:xfrm>
            <a:off x="10434489" y="2931170"/>
            <a:ext cx="7053411" cy="888429"/>
          </a:xfrm>
          <a:prstGeom prst="roundRect">
            <a:avLst>
              <a:gd name="adj" fmla="val 15010"/>
            </a:avLst>
          </a:prstGeom>
          <a:solidFill>
            <a:srgbClr val="F4FAF5"/>
          </a:solidFill>
          <a:ln w="9525">
            <a:solidFill>
              <a:srgbClr val="E0EEE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615464" y="3064520"/>
            <a:ext cx="11735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0615464" y="3383607"/>
            <a:ext cx="7360607" cy="340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классификатора (узел </a:t>
            </a:r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47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</a:t>
            </a:r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против разметки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0434489" y="3914849"/>
            <a:ext cx="7053411" cy="1143446"/>
          </a:xfrm>
          <a:prstGeom prst="roundRect">
            <a:avLst>
              <a:gd name="adj" fmla="val 11662"/>
            </a:avLst>
          </a:prstGeom>
          <a:solidFill>
            <a:srgbClr val="F4FAF5"/>
          </a:solidFill>
          <a:ln w="9525">
            <a:solidFill>
              <a:srgbClr val="E0EE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615464" y="4048199"/>
            <a:ext cx="10363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0615464" y="4367287"/>
            <a:ext cx="6892205" cy="59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Совпал ли тип результата: info / calculation / escalation / rejection / clarification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0434489" y="5153546"/>
            <a:ext cx="7053411" cy="888429"/>
          </a:xfrm>
          <a:prstGeom prst="roundRect">
            <a:avLst>
              <a:gd name="adj" fmla="val 15010"/>
            </a:avLst>
          </a:prstGeom>
          <a:solidFill>
            <a:srgbClr val="F4FAF5"/>
          </a:solidFill>
          <a:ln w="9525">
            <a:solidFill>
              <a:srgbClr val="E0EEE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615464" y="5286896"/>
            <a:ext cx="15087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escalation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10615464" y="5605983"/>
            <a:ext cx="7360607" cy="3407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</a:t>
            </a:r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47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escalation_*</a:t>
            </a:r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эскалировано ли с верным триггером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0434489" y="6137225"/>
            <a:ext cx="7053411" cy="1143446"/>
          </a:xfrm>
          <a:prstGeom prst="roundRect">
            <a:avLst>
              <a:gd name="adj" fmla="val 11662"/>
            </a:avLst>
          </a:prstGeom>
          <a:solidFill>
            <a:srgbClr val="F4FAF5"/>
          </a:solidFill>
          <a:ln w="9525">
            <a:solidFill>
              <a:srgbClr val="E0EEE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615464" y="6270575"/>
            <a:ext cx="11735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10615464" y="6589663"/>
            <a:ext cx="6892205" cy="59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Эталонный пункт нормативки попал в источники — только для citable-категорий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0434489" y="7375922"/>
            <a:ext cx="7053411" cy="1143446"/>
          </a:xfrm>
          <a:prstGeom prst="roundRect">
            <a:avLst>
              <a:gd name="adj" fmla="val 11662"/>
            </a:avLst>
          </a:prstGeom>
          <a:solidFill>
            <a:srgbClr val="F4FAF5"/>
          </a:solidFill>
          <a:ln w="9525">
            <a:solidFill>
              <a:srgbClr val="E0EEE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615464" y="7509272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10615464" y="7828359"/>
            <a:ext cx="6892205" cy="59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LLM-судья (GigaChat Lite) оценивает expected_behavior: 0 / 0.5 / 1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800100" y="9234488"/>
            <a:ext cx="17188434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поведенческих категориях (эскалации, отказы, offtopic) корректный ответ не содержит цитаты нормативки — поэтому </a:t>
            </a:r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6B8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 </a:t>
            </a:r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не считается (помечено «—»).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571500"/>
            <a:ext cx="400050" cy="400050"/>
          </a:xfrm>
          <a:prstGeom prst="roundRect">
            <a:avLst>
              <a:gd name="adj" fmla="val 30952"/>
            </a:avLst>
          </a:prstGeom>
          <a:gradFill rotWithShape="1">
            <a:gsLst>
              <a:gs pos="0">
                <a:srgbClr val="39B14C">
                  <a:alpha val="100000"/>
                </a:srgbClr>
              </a:gs>
              <a:gs pos="100000">
                <a:srgbClr val="2E7D32">
                  <a:alpha val="100000"/>
                </a:srgbClr>
              </a:gs>
            </a:gsLst>
            <a:lin ang="3600000" scaled="0"/>
          </a:gradFill>
          <a:ln/>
          <a:effectLst>
            <a:outerShdw sx="100000" sy="100000" kx="0" ky="0" algn="bl" rotWithShape="0" blurRad="133350" dist="47625" dir="5400000">
              <a:srgbClr val="2E7D32">
                <a:alpha val="2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85838" y="752475"/>
            <a:ext cx="28575" cy="1428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 rot="-720001">
            <a:off x="876300" y="676275"/>
            <a:ext cx="114300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 rot="720001">
            <a:off x="1009650" y="676275"/>
            <a:ext cx="114300" cy="1143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23975" y="607219"/>
            <a:ext cx="85375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МСБ</a:t>
            </a:r>
            <a:pPr algn="l" indent="0" marL="0">
              <a:buNone/>
            </a:pPr>
            <a:r>
              <a:rPr lang="en-US" sz="1875" b="1" spc="-19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.ai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5108882" y="616744"/>
            <a:ext cx="261691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· 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0100" y="1123950"/>
            <a:ext cx="18356580" cy="6404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650" b="1" spc="-70" kern="0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RAG: поиск по </a:t>
            </a:r>
            <a:pPr algn="l" indent="0" marL="0">
              <a:lnSpc>
                <a:spcPct val="102000"/>
              </a:lnSpc>
              <a:buNone/>
            </a:pPr>
            <a:r>
              <a:rPr lang="en-US" sz="4650" b="1" spc="-70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нормативной базе</a:t>
            </a:r>
            <a:endParaRPr lang="en-US" sz="4650" dirty="0"/>
          </a:p>
        </p:txBody>
      </p:sp>
      <p:sp>
        <p:nvSpPr>
          <p:cNvPr id="9" name="Shape 7"/>
          <p:cNvSpPr/>
          <p:nvPr/>
        </p:nvSpPr>
        <p:spPr>
          <a:xfrm>
            <a:off x="800100" y="1973907"/>
            <a:ext cx="16687800" cy="2025253"/>
          </a:xfrm>
          <a:prstGeom prst="roundRect">
            <a:avLst>
              <a:gd name="adj" fmla="val 9406"/>
            </a:avLst>
          </a:prstGeom>
          <a:solidFill>
            <a:srgbClr val="F4FAF5"/>
          </a:solidFill>
          <a:ln w="9525">
            <a:solidFill>
              <a:srgbClr val="E0EE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7275" y="2192982"/>
            <a:ext cx="177907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47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ИНДЕКСАЦИЯ · ОДИН РАЗ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7275" y="2645420"/>
            <a:ext cx="2705100" cy="1134666"/>
          </a:xfrm>
          <a:prstGeom prst="roundRect">
            <a:avLst>
              <a:gd name="adj" fmla="val 10913"/>
            </a:avLst>
          </a:prstGeom>
          <a:solidFill>
            <a:srgbClr val="EAF5EC"/>
          </a:solidFill>
          <a:ln w="9525">
            <a:solidFill>
              <a:srgbClr val="CFE6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9200" y="2929384"/>
            <a:ext cx="261937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регламентов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219200" y="3238946"/>
            <a:ext cx="26193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8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38575" y="2645420"/>
            <a:ext cx="385465" cy="1172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9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4224040" y="2645420"/>
            <a:ext cx="3300487" cy="1134666"/>
          </a:xfrm>
          <a:prstGeom prst="roundRect">
            <a:avLst>
              <a:gd name="adj" fmla="val 10913"/>
            </a:avLst>
          </a:prstGeom>
          <a:solidFill>
            <a:srgbClr val="EAF5EC"/>
          </a:solidFill>
          <a:ln w="9525">
            <a:solidFill>
              <a:srgbClr val="CFE6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5965" y="2788295"/>
            <a:ext cx="327430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Chunker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4385965" y="3097857"/>
            <a:ext cx="3065936" cy="577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6B8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section-aware · doc_id + section_id + scope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00727" y="2645420"/>
            <a:ext cx="385465" cy="1172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9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7986192" y="2645420"/>
            <a:ext cx="2929905" cy="1134666"/>
          </a:xfrm>
          <a:prstGeom prst="roundRect">
            <a:avLst>
              <a:gd name="adj" fmla="val 10913"/>
            </a:avLst>
          </a:prstGeom>
          <a:solidFill>
            <a:srgbClr val="EAF5EC"/>
          </a:solidFill>
          <a:ln w="9525">
            <a:solidFill>
              <a:srgbClr val="CFE6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48117" y="3077914"/>
            <a:ext cx="2866660" cy="307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153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corpus_chunks.jsonl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92296" y="2645420"/>
            <a:ext cx="385465" cy="1172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9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1377761" y="2645420"/>
            <a:ext cx="2824237" cy="1134666"/>
          </a:xfrm>
          <a:prstGeom prst="roundRect">
            <a:avLst>
              <a:gd name="adj" fmla="val 10913"/>
            </a:avLst>
          </a:prstGeom>
          <a:solidFill>
            <a:srgbClr val="EAF5EC"/>
          </a:solidFill>
          <a:ln w="9525">
            <a:solidFill>
              <a:srgbClr val="CFE6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539686" y="2924621"/>
            <a:ext cx="275042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GigaChat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1539686" y="3234184"/>
            <a:ext cx="27504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8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· 1024-dim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278198" y="2645420"/>
            <a:ext cx="385465" cy="1172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9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14663663" y="2645420"/>
            <a:ext cx="2567062" cy="1134666"/>
          </a:xfrm>
          <a:prstGeom prst="roundRect">
            <a:avLst>
              <a:gd name="adj" fmla="val 10913"/>
            </a:avLst>
          </a:prstGeom>
          <a:gradFill rotWithShape="1">
            <a:gsLst>
              <a:gs pos="0">
                <a:srgbClr val="2E7D32">
                  <a:alpha val="100000"/>
                </a:srgbClr>
              </a:gs>
              <a:gs pos="100000">
                <a:srgbClr val="1B5E20">
                  <a:alpha val="100000"/>
                </a:srgbClr>
              </a:gs>
            </a:gsLst>
            <a:lin ang="3900000" scaled="0"/>
          </a:gradFill>
          <a:ln/>
          <a:effectLst>
            <a:outerShdw sx="100000" sy="100000" kx="0" ky="0" algn="bl" rotWithShape="0" blurRad="152400" dist="57150" dir="5400000">
              <a:srgbClr val="1B5E2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816063" y="2924621"/>
            <a:ext cx="248848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4816063" y="3234184"/>
            <a:ext cx="24884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FE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HNSW · cosine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144750" y="4018211"/>
            <a:ext cx="19812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DA3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векторный поиск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6082963" y="4532561"/>
            <a:ext cx="28575" cy="133350"/>
          </a:xfrm>
          <a:prstGeom prst="rect">
            <a:avLst/>
          </a:prstGeom>
          <a:solidFill>
            <a:srgbClr val="9CC8A5"/>
          </a:solidFill>
          <a:ln/>
        </p:spPr>
      </p:sp>
      <p:sp>
        <p:nvSpPr>
          <p:cNvPr id="31" name="Text 29"/>
          <p:cNvSpPr/>
          <p:nvPr/>
        </p:nvSpPr>
        <p:spPr>
          <a:xfrm>
            <a:off x="15983694" y="4665911"/>
            <a:ext cx="3032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2250" dirty="0">
                <a:solidFill>
                  <a:srgbClr val="39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800100" y="4884986"/>
            <a:ext cx="16687800" cy="2025253"/>
          </a:xfrm>
          <a:prstGeom prst="roundRect">
            <a:avLst>
              <a:gd name="adj" fmla="val 9406"/>
            </a:avLst>
          </a:prstGeom>
          <a:solidFill>
            <a:srgbClr val="F4FAF5"/>
          </a:solidFill>
          <a:ln w="9525">
            <a:solidFill>
              <a:srgbClr val="E0EE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7275" y="5104061"/>
            <a:ext cx="177907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47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ПОИСК · НА КАЖДОМ ЗАПРОСЕ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57275" y="5556498"/>
            <a:ext cx="2496071" cy="1134666"/>
          </a:xfrm>
          <a:prstGeom prst="roundRect">
            <a:avLst>
              <a:gd name="adj" fmla="val 10913"/>
            </a:avLst>
          </a:prstGeom>
          <a:solidFill>
            <a:srgbClr val="EAF5EC"/>
          </a:solidFill>
          <a:ln w="9525">
            <a:solidFill>
              <a:srgbClr val="CFE6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19200" y="5983337"/>
            <a:ext cx="238944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клиента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3629546" y="5556498"/>
            <a:ext cx="385465" cy="1172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9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37" name="Shape 35"/>
          <p:cNvSpPr/>
          <p:nvPr/>
        </p:nvSpPr>
        <p:spPr>
          <a:xfrm>
            <a:off x="4015011" y="5556498"/>
            <a:ext cx="2496071" cy="1134666"/>
          </a:xfrm>
          <a:prstGeom prst="roundRect">
            <a:avLst>
              <a:gd name="adj" fmla="val 10913"/>
            </a:avLst>
          </a:prstGeom>
          <a:solidFill>
            <a:srgbClr val="EAF5EC"/>
          </a:solidFill>
          <a:ln w="9525">
            <a:solidFill>
              <a:srgbClr val="CFE6D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76936" y="5835700"/>
            <a:ext cx="238944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875" dirty="0"/>
          </a:p>
        </p:txBody>
      </p:sp>
      <p:sp>
        <p:nvSpPr>
          <p:cNvPr id="39" name="Text 37"/>
          <p:cNvSpPr/>
          <p:nvPr/>
        </p:nvSpPr>
        <p:spPr>
          <a:xfrm>
            <a:off x="4176936" y="6145262"/>
            <a:ext cx="23894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8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запроса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587282" y="5556498"/>
            <a:ext cx="385465" cy="1172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9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41" name="Shape 39"/>
          <p:cNvSpPr/>
          <p:nvPr/>
        </p:nvSpPr>
        <p:spPr>
          <a:xfrm>
            <a:off x="6972746" y="5556498"/>
            <a:ext cx="3384054" cy="1134666"/>
          </a:xfrm>
          <a:prstGeom prst="roundRect">
            <a:avLst>
              <a:gd name="adj" fmla="val 10913"/>
            </a:avLst>
          </a:prstGeom>
          <a:solidFill>
            <a:srgbClr val="EAF5EC"/>
          </a:solidFill>
          <a:ln w="19050">
            <a:solidFill>
              <a:srgbClr val="39B1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44196" y="5826175"/>
            <a:ext cx="334526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retrieve(query, k=8)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144196" y="6154787"/>
            <a:ext cx="33452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8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product_filter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0433000" y="5556498"/>
            <a:ext cx="385465" cy="1172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9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45" name="Shape 43"/>
          <p:cNvSpPr/>
          <p:nvPr/>
        </p:nvSpPr>
        <p:spPr>
          <a:xfrm>
            <a:off x="10818465" y="5556498"/>
            <a:ext cx="3039145" cy="1134666"/>
          </a:xfrm>
          <a:prstGeom prst="roundRect">
            <a:avLst>
              <a:gd name="adj" fmla="val 10913"/>
            </a:avLst>
          </a:prstGeom>
          <a:solidFill>
            <a:srgbClr val="EAF5EC"/>
          </a:solidFill>
          <a:ln w="9525">
            <a:solidFill>
              <a:srgbClr val="CFE6D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980390" y="5699373"/>
            <a:ext cx="298682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чанков</a:t>
            </a:r>
            <a:endParaRPr lang="en-US" sz="1875" dirty="0"/>
          </a:p>
        </p:txBody>
      </p:sp>
      <p:sp>
        <p:nvSpPr>
          <p:cNvPr id="47" name="Text 45"/>
          <p:cNvSpPr/>
          <p:nvPr/>
        </p:nvSpPr>
        <p:spPr>
          <a:xfrm>
            <a:off x="10980390" y="6008936"/>
            <a:ext cx="2796754" cy="577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6B8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теги scope: general / specific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3933810" y="5556498"/>
            <a:ext cx="385465" cy="1172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9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49" name="Shape 47"/>
          <p:cNvSpPr/>
          <p:nvPr/>
        </p:nvSpPr>
        <p:spPr>
          <a:xfrm>
            <a:off x="14319275" y="5556498"/>
            <a:ext cx="2911450" cy="1134666"/>
          </a:xfrm>
          <a:prstGeom prst="roundRect">
            <a:avLst>
              <a:gd name="adj" fmla="val 10913"/>
            </a:avLst>
          </a:prstGeom>
          <a:gradFill rotWithShape="1">
            <a:gsLst>
              <a:gs pos="0">
                <a:srgbClr val="2E7D32">
                  <a:alpha val="100000"/>
                </a:srgbClr>
              </a:gs>
              <a:gs pos="100000">
                <a:srgbClr val="1B5E20">
                  <a:alpha val="100000"/>
                </a:srgbClr>
              </a:gs>
            </a:gsLst>
            <a:lin ang="3900000" scaled="0"/>
          </a:gradFill>
          <a:ln/>
          <a:effectLst>
            <a:outerShdw sx="100000" sy="100000" kx="0" ky="0" algn="bl" rotWithShape="0" blurRad="152400" dist="57150" dir="5400000">
              <a:srgbClr val="1B5E2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4471675" y="5689848"/>
            <a:ext cx="286731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generate_answer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4471675" y="6018461"/>
            <a:ext cx="2684850" cy="577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BFE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 продуктового правила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00100" y="9211717"/>
            <a:ext cx="17188434" cy="65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Разрешение коллизий — на генерации. 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C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конфликте общего (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7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scope=general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C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и продуктового (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7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scope=specific 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C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правила приоритет у продуктового; ретривер не переранжирует — выбор делает LLM по тегам.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571500"/>
            <a:ext cx="400050" cy="400050"/>
          </a:xfrm>
          <a:prstGeom prst="roundRect">
            <a:avLst>
              <a:gd name="adj" fmla="val 30952"/>
            </a:avLst>
          </a:prstGeom>
          <a:gradFill rotWithShape="1">
            <a:gsLst>
              <a:gs pos="0">
                <a:srgbClr val="39B14C">
                  <a:alpha val="100000"/>
                </a:srgbClr>
              </a:gs>
              <a:gs pos="100000">
                <a:srgbClr val="2E7D32">
                  <a:alpha val="100000"/>
                </a:srgbClr>
              </a:gs>
            </a:gsLst>
            <a:lin ang="3600000" scaled="0"/>
          </a:gradFill>
          <a:ln/>
          <a:effectLst>
            <a:outerShdw sx="100000" sy="100000" kx="0" ky="0" algn="bl" rotWithShape="0" blurRad="133350" dist="47625" dir="5400000">
              <a:srgbClr val="2E7D32">
                <a:alpha val="2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85838" y="752475"/>
            <a:ext cx="28575" cy="1428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 rot="-720001">
            <a:off x="876300" y="676275"/>
            <a:ext cx="114300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 rot="720001">
            <a:off x="1009650" y="676275"/>
            <a:ext cx="114300" cy="1143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23975" y="607219"/>
            <a:ext cx="85375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МСБ</a:t>
            </a:r>
            <a:pPr algn="l" indent="0" marL="0">
              <a:buNone/>
            </a:pPr>
            <a:r>
              <a:rPr lang="en-US" sz="1875" b="1" spc="-19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.ai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5114463" y="616744"/>
            <a:ext cx="261078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RAG · 03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0100" y="1123950"/>
            <a:ext cx="18356580" cy="6404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650" b="1" spc="-70" kern="0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поиска: </a:t>
            </a:r>
            <a:pPr algn="l" indent="0" marL="0">
              <a:lnSpc>
                <a:spcPct val="102000"/>
              </a:lnSpc>
              <a:buNone/>
            </a:pPr>
            <a:r>
              <a:rPr lang="en-US" sz="4650" b="1" spc="-70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recall@k</a:t>
            </a:r>
            <a:endParaRPr lang="en-US" sz="4650" dirty="0"/>
          </a:p>
        </p:txBody>
      </p:sp>
      <p:sp>
        <p:nvSpPr>
          <p:cNvPr id="9" name="Text 7"/>
          <p:cNvSpPr/>
          <p:nvPr/>
        </p:nvSpPr>
        <p:spPr>
          <a:xfrm>
            <a:off x="800100" y="1859607"/>
            <a:ext cx="14716125" cy="6866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5C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кейсов, где хотя бы один эталонный пункт нормативки попал в top-k. Эталон — ручная разметка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47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referenced_documents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5C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800100" y="2793950"/>
            <a:ext cx="7611145" cy="3422675"/>
          </a:xfrm>
          <a:prstGeom prst="roundRect">
            <a:avLst>
              <a:gd name="adj" fmla="val 6122"/>
            </a:avLst>
          </a:prstGeom>
          <a:solidFill>
            <a:srgbClr val="EAF5EC"/>
          </a:solidFill>
          <a:ln w="9525">
            <a:solidFill>
              <a:srgbClr val="CFE6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475" y="3728963"/>
            <a:ext cx="763883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7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recall@5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33475" y="4081388"/>
            <a:ext cx="763883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b="1" spc="-138" kern="0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78.8</a:t>
            </a:r>
            <a:pPr algn="l" indent="0" marL="0">
              <a:lnSpc>
                <a:spcPct val="100000"/>
              </a:lnSpc>
              <a:buNone/>
            </a:pPr>
            <a:r>
              <a:rPr lang="en-US" sz="4050" b="1" spc="-138" kern="0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6900" dirty="0"/>
          </a:p>
        </p:txBody>
      </p:sp>
      <p:sp>
        <p:nvSpPr>
          <p:cNvPr id="13" name="Text 11"/>
          <p:cNvSpPr/>
          <p:nvPr/>
        </p:nvSpPr>
        <p:spPr>
          <a:xfrm>
            <a:off x="1133475" y="5014838"/>
            <a:ext cx="76388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8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грунтинг по содержательным категориям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0100" y="6426175"/>
            <a:ext cx="7611145" cy="3403625"/>
          </a:xfrm>
          <a:prstGeom prst="roundRect">
            <a:avLst>
              <a:gd name="adj" fmla="val 6157"/>
            </a:avLst>
          </a:prstGeom>
          <a:gradFill rotWithShape="1">
            <a:gsLst>
              <a:gs pos="0">
                <a:srgbClr val="2E7D32">
                  <a:alpha val="100000"/>
                </a:srgbClr>
              </a:gs>
              <a:gs pos="100000">
                <a:srgbClr val="1B5E20">
                  <a:alpha val="100000"/>
                </a:srgbClr>
              </a:gs>
            </a:gsLst>
            <a:lin ang="3900000" scaled="0"/>
          </a:gradFill>
          <a:ln/>
          <a:effectLst>
            <a:outerShdw sx="100000" sy="100000" kx="0" ky="0" algn="bl" rotWithShape="0" blurRad="247650" dist="95250" dir="5400000">
              <a:srgbClr val="1B5E2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23950" y="7351663"/>
            <a:ext cx="765978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FE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recall@8 · в проде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23950" y="7704088"/>
            <a:ext cx="7659789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b="1" spc="-13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86.9</a:t>
            </a:r>
            <a:pPr algn="l" indent="0" marL="0">
              <a:lnSpc>
                <a:spcPct val="100000"/>
              </a:lnSpc>
              <a:buNone/>
            </a:pPr>
            <a:r>
              <a:rPr lang="en-US" sz="4050" b="1" spc="-13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6900" dirty="0"/>
          </a:p>
        </p:txBody>
      </p:sp>
      <p:sp>
        <p:nvSpPr>
          <p:cNvPr id="17" name="Text 15"/>
          <p:cNvSpPr/>
          <p:nvPr/>
        </p:nvSpPr>
        <p:spPr>
          <a:xfrm>
            <a:off x="1123950" y="8637538"/>
            <a:ext cx="76597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FE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ретривит с k = 8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35095" y="2793950"/>
            <a:ext cx="96280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Citable-категории — то, что реально мерит RAG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8735095" y="3260675"/>
            <a:ext cx="8752805" cy="3281363"/>
          </a:xfrm>
          <a:prstGeom prst="roundRect">
            <a:avLst>
              <a:gd name="adj" fmla="val 4644"/>
            </a:avLst>
          </a:prstGeom>
          <a:ln w="9525">
            <a:solidFill>
              <a:srgbClr val="E0EE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39857" y="3265438"/>
            <a:ext cx="8743280" cy="590550"/>
          </a:xfrm>
          <a:prstGeom prst="rect">
            <a:avLst/>
          </a:prstGeom>
          <a:solidFill>
            <a:srgbClr val="EAF5EC"/>
          </a:solidFill>
          <a:ln/>
        </p:spPr>
      </p:sp>
      <p:sp>
        <p:nvSpPr>
          <p:cNvPr id="21" name="Text 19"/>
          <p:cNvSpPr/>
          <p:nvPr/>
        </p:nvSpPr>
        <p:spPr>
          <a:xfrm>
            <a:off x="8949407" y="3417838"/>
            <a:ext cx="36985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47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Категория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2870954" y="3417838"/>
            <a:ext cx="202071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b="1" dirty="0">
                <a:solidFill>
                  <a:srgbClr val="47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recall@5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5234568" y="3417838"/>
            <a:ext cx="20390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b="1" dirty="0">
                <a:solidFill>
                  <a:srgbClr val="47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recall@8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8739857" y="4522738"/>
            <a:ext cx="3997747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25" name="Text 23"/>
          <p:cNvSpPr/>
          <p:nvPr/>
        </p:nvSpPr>
        <p:spPr>
          <a:xfrm>
            <a:off x="8949407" y="4027438"/>
            <a:ext cx="36985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2737604" y="4522738"/>
            <a:ext cx="2363614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27" name="Text 25"/>
          <p:cNvSpPr/>
          <p:nvPr/>
        </p:nvSpPr>
        <p:spPr>
          <a:xfrm>
            <a:off x="12870954" y="4027438"/>
            <a:ext cx="202071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82.2%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5101218" y="4522738"/>
            <a:ext cx="2381920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29" name="Text 27"/>
          <p:cNvSpPr/>
          <p:nvPr/>
        </p:nvSpPr>
        <p:spPr>
          <a:xfrm>
            <a:off x="15234568" y="4027438"/>
            <a:ext cx="20390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84.4%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8739857" y="5203775"/>
            <a:ext cx="3997747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31" name="Text 29"/>
          <p:cNvSpPr/>
          <p:nvPr/>
        </p:nvSpPr>
        <p:spPr>
          <a:xfrm>
            <a:off x="8949407" y="4703713"/>
            <a:ext cx="3698579" cy="36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transactional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2737604" y="5203775"/>
            <a:ext cx="2363614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33" name="Text 31"/>
          <p:cNvSpPr/>
          <p:nvPr/>
        </p:nvSpPr>
        <p:spPr>
          <a:xfrm>
            <a:off x="12870954" y="4703713"/>
            <a:ext cx="2020714" cy="36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73.3%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5101218" y="5203775"/>
            <a:ext cx="2381920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35" name="Text 33"/>
          <p:cNvSpPr/>
          <p:nvPr/>
        </p:nvSpPr>
        <p:spPr>
          <a:xfrm>
            <a:off x="15234568" y="4703713"/>
            <a:ext cx="2039020" cy="36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86.7%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8739857" y="5884813"/>
            <a:ext cx="3997747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37" name="Text 35"/>
          <p:cNvSpPr/>
          <p:nvPr/>
        </p:nvSpPr>
        <p:spPr>
          <a:xfrm>
            <a:off x="8949407" y="5384750"/>
            <a:ext cx="3698579" cy="36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edge_conflict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2737604" y="5884813"/>
            <a:ext cx="2363614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39" name="Text 37"/>
          <p:cNvSpPr/>
          <p:nvPr/>
        </p:nvSpPr>
        <p:spPr>
          <a:xfrm>
            <a:off x="12870954" y="5384750"/>
            <a:ext cx="2020714" cy="36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88.9%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5101218" y="5884813"/>
            <a:ext cx="2381920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41" name="Text 39"/>
          <p:cNvSpPr/>
          <p:nvPr/>
        </p:nvSpPr>
        <p:spPr>
          <a:xfrm>
            <a:off x="15234568" y="5384750"/>
            <a:ext cx="2039020" cy="36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8739857" y="5894338"/>
            <a:ext cx="8743280" cy="642938"/>
          </a:xfrm>
          <a:prstGeom prst="rect">
            <a:avLst/>
          </a:prstGeom>
          <a:solidFill>
            <a:srgbClr val="F4FAF5"/>
          </a:solidFill>
          <a:ln/>
        </p:spPr>
      </p:sp>
      <p:sp>
        <p:nvSpPr>
          <p:cNvPr id="43" name="Text 41"/>
          <p:cNvSpPr/>
          <p:nvPr/>
        </p:nvSpPr>
        <p:spPr>
          <a:xfrm>
            <a:off x="8949407" y="6065788"/>
            <a:ext cx="369857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· citable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2870954" y="6065788"/>
            <a:ext cx="202071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78.8%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5234568" y="6065788"/>
            <a:ext cx="20390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86.9%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8735095" y="6694438"/>
            <a:ext cx="9015389" cy="953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Поведенческие категории в итог не входят — их обрабатывают узлы 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8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84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 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а не RAG-поиск. Размытый общий по всем 8 категориям (recall@8 = 64.4%) для оценки retrieval не используется.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571500"/>
            <a:ext cx="400050" cy="400050"/>
          </a:xfrm>
          <a:prstGeom prst="roundRect">
            <a:avLst>
              <a:gd name="adj" fmla="val 30952"/>
            </a:avLst>
          </a:prstGeom>
          <a:gradFill rotWithShape="1">
            <a:gsLst>
              <a:gs pos="0">
                <a:srgbClr val="39B14C">
                  <a:alpha val="100000"/>
                </a:srgbClr>
              </a:gs>
              <a:gs pos="100000">
                <a:srgbClr val="2E7D32">
                  <a:alpha val="100000"/>
                </a:srgbClr>
              </a:gs>
            </a:gsLst>
            <a:lin ang="3600000" scaled="0"/>
          </a:gradFill>
          <a:ln/>
          <a:effectLst>
            <a:outerShdw sx="100000" sy="100000" kx="0" ky="0" algn="bl" rotWithShape="0" blurRad="133350" dist="47625" dir="5400000">
              <a:srgbClr val="2E7D32">
                <a:alpha val="2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85838" y="752475"/>
            <a:ext cx="28575" cy="1428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 rot="-720001">
            <a:off x="876300" y="676275"/>
            <a:ext cx="114300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 rot="720001">
            <a:off x="1009650" y="676275"/>
            <a:ext cx="114300" cy="1143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23975" y="607219"/>
            <a:ext cx="85375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МСБ</a:t>
            </a:r>
            <a:pPr algn="l" indent="0" marL="0">
              <a:buNone/>
            </a:pPr>
            <a:r>
              <a:rPr lang="en-US" sz="1875" b="1" spc="-19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.ai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3865721" y="616744"/>
            <a:ext cx="398439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ТЕСТЫ ИНСТРУМЕНТОВ · 04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0100" y="1123950"/>
            <a:ext cx="8010017" cy="1203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500" b="1" spc="-67" kern="0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Детерминированные тесты: 4 слоя, 16 проверок</a:t>
            </a:r>
            <a:endParaRPr lang="en-US" sz="4500" dirty="0"/>
          </a:p>
        </p:txBody>
      </p:sp>
      <p:sp>
        <p:nvSpPr>
          <p:cNvPr id="9" name="Shape 7"/>
          <p:cNvSpPr/>
          <p:nvPr/>
        </p:nvSpPr>
        <p:spPr>
          <a:xfrm>
            <a:off x="14486186" y="1675358"/>
            <a:ext cx="3001714" cy="614363"/>
          </a:xfrm>
          <a:prstGeom prst="roundRect">
            <a:avLst>
              <a:gd name="adj" fmla="val 50000"/>
            </a:avLst>
          </a:prstGeom>
          <a:solidFill>
            <a:srgbClr val="EAF5EC"/>
          </a:solidFill>
          <a:ln w="9525">
            <a:solidFill>
              <a:srgbClr val="CFE6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724311" y="1820614"/>
            <a:ext cx="323850" cy="32385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14686211" y="1820614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162461" y="1799183"/>
            <a:ext cx="229604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 зелёные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00100" y="2556421"/>
            <a:ext cx="8248650" cy="3298552"/>
          </a:xfrm>
          <a:prstGeom prst="roundRect">
            <a:avLst>
              <a:gd name="adj" fmla="val 5198"/>
            </a:avLst>
          </a:prstGeom>
          <a:solidFill>
            <a:srgbClr val="FFFFFF"/>
          </a:solidFill>
          <a:ln w="9525">
            <a:solidFill>
              <a:srgbClr val="DCEBE0"/>
            </a:solidFill>
            <a:prstDash val="solid"/>
          </a:ln>
          <a:effectLst>
            <a:outerShdw sx="100000" sy="100000" kx="0" ky="0" algn="bl" rotWithShape="0" blurRad="133350" dist="28575" dir="5400000">
              <a:srgbClr val="1B5E2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7275" y="2780258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1019175" y="2780258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24000" y="2775496"/>
            <a:ext cx="26431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 + БД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057275" y="3223171"/>
            <a:ext cx="7966329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 · access control · SQLite · LangChain-обёртки · подбор продуктов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7275" y="3926086"/>
            <a:ext cx="7966329" cy="939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Идентификация по каналу; анонимный канал не получает данные; корректные профиль/кредиты/заявки; 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47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get_eligible_products 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раскрывает скоринг; нет галлюцинаций на неизвестном клиенте.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39250" y="2556421"/>
            <a:ext cx="8248650" cy="3298552"/>
          </a:xfrm>
          <a:prstGeom prst="roundRect">
            <a:avLst>
              <a:gd name="adj" fmla="val 5198"/>
            </a:avLst>
          </a:prstGeom>
          <a:solidFill>
            <a:srgbClr val="FFFFFF"/>
          </a:solidFill>
          <a:ln w="9525">
            <a:solidFill>
              <a:srgbClr val="DCEBE0"/>
            </a:solidFill>
            <a:prstDash val="solid"/>
          </a:ln>
          <a:effectLst>
            <a:outerShdw sx="100000" sy="100000" kx="0" ky="0" algn="bl" rotWithShape="0" blurRad="133350" dist="28575" dir="5400000">
              <a:srgbClr val="1B5E2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96425" y="2780258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2780258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63150" y="2775496"/>
            <a:ext cx="338587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 + стык с RAG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9496425" y="3223171"/>
            <a:ext cx="850773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 multi-turn · анонимный seed · редьюсер · RAG-стык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96425" y="3617491"/>
            <a:ext cx="7966329" cy="9873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Инициализация состояния; 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47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add_messages 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копит историю диалога; формат совместим с RAG-хелперами ( 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47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build_query_from_history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47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detect_product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00100" y="6045473"/>
            <a:ext cx="8248650" cy="3298552"/>
          </a:xfrm>
          <a:prstGeom prst="roundRect">
            <a:avLst>
              <a:gd name="adj" fmla="val 5198"/>
            </a:avLst>
          </a:prstGeom>
          <a:solidFill>
            <a:srgbClr val="FFFFFF"/>
          </a:solidFill>
          <a:ln w="9525">
            <a:solidFill>
              <a:srgbClr val="DCEBE0"/>
            </a:solidFill>
            <a:prstDash val="solid"/>
          </a:ln>
          <a:effectLst>
            <a:outerShdw sx="100000" sy="100000" kx="0" ky="0" algn="bl" rotWithShape="0" blurRad="133350" dist="28575" dir="5400000">
              <a:srgbClr val="1B5E2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57275" y="626931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1019175" y="626931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24000" y="6264548"/>
            <a:ext cx="29621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 + безопасность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1057275" y="6712223"/>
            <a:ext cx="7966329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маршрутизация · блок БД на анониме · multi-turn память · предохранитель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57275" y="7415138"/>
            <a:ext cx="7966329" cy="939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Верные ветки графа; checkpointer держит контекст; запрос чужих данных/представителя → принудительная 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suspicious </a:t>
            </a:r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-эскалация, БД не тронута.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39250" y="6045473"/>
            <a:ext cx="8248650" cy="3298552"/>
          </a:xfrm>
          <a:prstGeom prst="roundRect">
            <a:avLst>
              <a:gd name="adj" fmla="val 5198"/>
            </a:avLst>
          </a:prstGeom>
          <a:solidFill>
            <a:srgbClr val="FFFFFF"/>
          </a:solidFill>
          <a:ln w="9525">
            <a:solidFill>
              <a:srgbClr val="DCEBE0"/>
            </a:solidFill>
            <a:prstDash val="solid"/>
          </a:ln>
          <a:effectLst>
            <a:outerShdw sx="100000" sy="100000" kx="0" ky="0" algn="bl" rotWithShape="0" blurRad="133350" dist="28575" dir="5400000">
              <a:srgbClr val="1B5E2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496425" y="626931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9458325" y="6269310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963150" y="6264548"/>
            <a:ext cx="151088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Эскалация</a:t>
            </a:r>
            <a:endParaRPr lang="en-US" sz="2025" dirty="0"/>
          </a:p>
        </p:txBody>
      </p:sp>
      <p:sp>
        <p:nvSpPr>
          <p:cNvPr id="35" name="Text 33"/>
          <p:cNvSpPr/>
          <p:nvPr/>
        </p:nvSpPr>
        <p:spPr>
          <a:xfrm>
            <a:off x="9496425" y="6712223"/>
            <a:ext cx="850773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пакет intent · пакет negative · лимит сводки · лог графа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496425" y="7106543"/>
            <a:ext cx="7966329" cy="623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пакета оператору с историей; сводка ≤ 500 символов; эскалация проходит через граф и пишется в лог передачи.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00100" y="9515475"/>
            <a:ext cx="33121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178942" y="9532144"/>
            <a:ext cx="881059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Предохранители работают поверх LLM и не зависят от стохастики модели.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571500"/>
            <a:ext cx="400050" cy="400050"/>
          </a:xfrm>
          <a:prstGeom prst="roundRect">
            <a:avLst>
              <a:gd name="adj" fmla="val 30952"/>
            </a:avLst>
          </a:prstGeom>
          <a:gradFill rotWithShape="1">
            <a:gsLst>
              <a:gs pos="0">
                <a:srgbClr val="39B14C">
                  <a:alpha val="100000"/>
                </a:srgbClr>
              </a:gs>
              <a:gs pos="100000">
                <a:srgbClr val="2E7D32">
                  <a:alpha val="100000"/>
                </a:srgbClr>
              </a:gs>
            </a:gsLst>
            <a:lin ang="3600000" scaled="0"/>
          </a:gradFill>
          <a:ln/>
          <a:effectLst>
            <a:outerShdw sx="100000" sy="100000" kx="0" ky="0" algn="bl" rotWithShape="0" blurRad="133350" dist="47625" dir="5400000">
              <a:srgbClr val="2E7D32">
                <a:alpha val="2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85838" y="752475"/>
            <a:ext cx="28575" cy="1428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 rot="-720001">
            <a:off x="876300" y="676275"/>
            <a:ext cx="114300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 rot="720001">
            <a:off x="1009650" y="676275"/>
            <a:ext cx="114300" cy="1143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23975" y="607219"/>
            <a:ext cx="85375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МСБ</a:t>
            </a:r>
            <a:pPr algn="l" indent="0" marL="0">
              <a:buNone/>
            </a:pPr>
            <a:r>
              <a:rPr lang="en-US" sz="1875" b="1" spc="-19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.ai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5109701" y="616744"/>
            <a:ext cx="261601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· 05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0100" y="1104900"/>
            <a:ext cx="18356580" cy="60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350" b="1" spc="-65" kern="0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Маршрутизация: граф </a:t>
            </a:r>
            <a:pPr algn="l" indent="0" marL="0">
              <a:lnSpc>
                <a:spcPct val="102000"/>
              </a:lnSpc>
              <a:buNone/>
            </a:pPr>
            <a:r>
              <a:rPr lang="en-US" sz="4350" b="1" spc="-65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4350" dirty="0"/>
          </a:p>
        </p:txBody>
      </p:sp>
      <p:sp>
        <p:nvSpPr>
          <p:cNvPr id="9" name="Shape 7"/>
          <p:cNvSpPr/>
          <p:nvPr/>
        </p:nvSpPr>
        <p:spPr>
          <a:xfrm>
            <a:off x="4240857" y="1877913"/>
            <a:ext cx="3030364" cy="52863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E7D32">
                  <a:alpha val="100000"/>
                </a:srgbClr>
              </a:gs>
              <a:gs pos="100000">
                <a:srgbClr val="1B5E20">
                  <a:alpha val="100000"/>
                </a:srgbClr>
              </a:gs>
            </a:gsLst>
            <a:lin ang="3900000" scaled="0"/>
          </a:gradFill>
          <a:ln/>
          <a:effectLst>
            <a:outerShdw sx="100000" sy="100000" kx="0" ky="0" algn="bl" rotWithShape="0" blurRad="152400" dist="57150" dir="5400000">
              <a:srgbClr val="1B5E2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64707" y="2001738"/>
            <a:ext cx="247357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Обращение клиента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5650037" y="2406551"/>
            <a:ext cx="288206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00" dirty="0">
                <a:solidFill>
                  <a:srgbClr val="39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3470077" y="2646536"/>
            <a:ext cx="4572000" cy="1171575"/>
          </a:xfrm>
          <a:prstGeom prst="roundRect">
            <a:avLst>
              <a:gd name="adj" fmla="val 12195"/>
            </a:avLst>
          </a:prstGeom>
          <a:solidFill>
            <a:srgbClr val="EAF5EC"/>
          </a:solidFill>
          <a:ln w="19050">
            <a:solidFill>
              <a:srgbClr val="39B1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6757" y="2798936"/>
            <a:ext cx="43586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153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3715441" y="3132311"/>
            <a:ext cx="408127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8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+ детекторы безопасности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90008" y="3894311"/>
            <a:ext cx="25653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DA3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условные переходы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4208636"/>
            <a:ext cx="22180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8DA3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escalation / манипуляция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72096" y="4665836"/>
            <a:ext cx="273993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8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⇣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00100" y="4882976"/>
            <a:ext cx="2141860" cy="576263"/>
          </a:xfrm>
          <a:prstGeom prst="roundRect">
            <a:avLst>
              <a:gd name="adj" fmla="val 21488"/>
            </a:avLst>
          </a:prstGeom>
          <a:solidFill>
            <a:srgbClr val="FBEAEA"/>
          </a:solidFill>
          <a:ln w="14288">
            <a:solidFill>
              <a:srgbClr val="E2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2543" y="5021089"/>
            <a:ext cx="215697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21348" y="4208636"/>
            <a:ext cx="117365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8DA3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needs_db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09281" y="4665836"/>
            <a:ext cx="273993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800" dirty="0">
                <a:solidFill>
                  <a:srgbClr val="39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⇣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037210" y="4882976"/>
            <a:ext cx="2141934" cy="576263"/>
          </a:xfrm>
          <a:prstGeom prst="roundRect">
            <a:avLst>
              <a:gd name="adj" fmla="val 21488"/>
            </a:avLst>
          </a:prstGeom>
          <a:solidFill>
            <a:srgbClr val="EAF5EC"/>
          </a:solidFill>
          <a:ln w="14288">
            <a:solidFill>
              <a:srgbClr val="CFE6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29649" y="5021089"/>
            <a:ext cx="21570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query_db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74394" y="4208636"/>
            <a:ext cx="349597" cy="1060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9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6058570" y="4208636"/>
            <a:ext cx="131087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8DA3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needs_rag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15113" y="4665836"/>
            <a:ext cx="273993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800" dirty="0">
                <a:solidFill>
                  <a:srgbClr val="39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⇣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643042" y="4882976"/>
            <a:ext cx="2141934" cy="576263"/>
          </a:xfrm>
          <a:prstGeom prst="roundRect">
            <a:avLst>
              <a:gd name="adj" fmla="val 21488"/>
            </a:avLst>
          </a:prstGeom>
          <a:solidFill>
            <a:srgbClr val="EAF5EC"/>
          </a:solidFill>
          <a:ln w="14288">
            <a:solidFill>
              <a:srgbClr val="CFE6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35481" y="5021089"/>
            <a:ext cx="21570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retrieve_rag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880226" y="4208636"/>
            <a:ext cx="349597" cy="1060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9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8619232" y="4208636"/>
            <a:ext cx="172238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8DA3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без RAG и БД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81530" y="4665836"/>
            <a:ext cx="273993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800" dirty="0">
                <a:solidFill>
                  <a:srgbClr val="39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⇣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248873" y="4882976"/>
            <a:ext cx="2463180" cy="547688"/>
          </a:xfrm>
          <a:prstGeom prst="roundRect">
            <a:avLst>
              <a:gd name="adj" fmla="val 22609"/>
            </a:avLst>
          </a:prstGeom>
          <a:gradFill rotWithShape="1">
            <a:gsLst>
              <a:gs pos="0">
                <a:srgbClr val="2E7D32">
                  <a:alpha val="100000"/>
                </a:srgbClr>
              </a:gs>
              <a:gs pos="100000">
                <a:srgbClr val="1B5E20">
                  <a:alpha val="100000"/>
                </a:srgbClr>
              </a:gs>
            </a:gsLst>
            <a:lin ang="3900000" scaled="0"/>
          </a:gradFill>
          <a:ln/>
          <a:effectLst>
            <a:outerShdw sx="100000" sy="100000" kx="0" ky="0" algn="bl" rotWithShape="0" blurRad="133350" dist="47625" dir="5400000">
              <a:srgbClr val="1B5E2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09534" y="5006801"/>
            <a:ext cx="254185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generate_answer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94817" y="5497339"/>
            <a:ext cx="288206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905330" y="5497339"/>
            <a:ext cx="288206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00" dirty="0">
                <a:solidFill>
                  <a:srgbClr val="39B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4545434" y="5737324"/>
            <a:ext cx="2421285" cy="52863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E7D32">
                  <a:alpha val="100000"/>
                </a:srgbClr>
              </a:gs>
              <a:gs pos="100000">
                <a:srgbClr val="1B5E20">
                  <a:alpha val="100000"/>
                </a:srgbClr>
              </a:gs>
            </a:gsLst>
            <a:lin ang="3900000" scaled="0"/>
          </a:gradFill>
          <a:ln/>
          <a:effectLst>
            <a:outerShdw sx="100000" sy="100000" kx="0" ky="0" algn="bl" rotWithShape="0" blurRad="152400" dist="57150" dir="5400000">
              <a:srgbClr val="1B5E20">
                <a:alpha val="2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07384" y="5861149"/>
            <a:ext cx="177358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клиенту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11093053" y="3727400"/>
            <a:ext cx="6394847" cy="1314450"/>
          </a:xfrm>
          <a:prstGeom prst="rect">
            <a:avLst/>
          </a:prstGeom>
          <a:solidFill>
            <a:srgbClr val="F4FAF5"/>
          </a:solidFill>
          <a:ln/>
        </p:spPr>
      </p:sp>
      <p:sp>
        <p:nvSpPr>
          <p:cNvPr id="39" name="Shape 37"/>
          <p:cNvSpPr/>
          <p:nvPr/>
        </p:nvSpPr>
        <p:spPr>
          <a:xfrm>
            <a:off x="11093053" y="3727400"/>
            <a:ext cx="38100" cy="131445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0" name="Text 38"/>
          <p:cNvSpPr/>
          <p:nvPr/>
        </p:nvSpPr>
        <p:spPr>
          <a:xfrm>
            <a:off x="11340703" y="3898850"/>
            <a:ext cx="65314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</a:t>
            </a:r>
            <a:endParaRPr lang="en-US" sz="1875" dirty="0"/>
          </a:p>
        </p:txBody>
      </p:sp>
      <p:sp>
        <p:nvSpPr>
          <p:cNvPr id="41" name="Text 39"/>
          <p:cNvSpPr/>
          <p:nvPr/>
        </p:nvSpPr>
        <p:spPr>
          <a:xfrm>
            <a:off x="11340703" y="4251275"/>
            <a:ext cx="611577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точка входа: категория + детекторы безопасности, дальше условные переходы.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1093053" y="5194250"/>
            <a:ext cx="6394847" cy="1328738"/>
          </a:xfrm>
          <a:prstGeom prst="rect">
            <a:avLst/>
          </a:prstGeom>
          <a:solidFill>
            <a:srgbClr val="F4FAF5"/>
          </a:solidFill>
          <a:ln/>
        </p:spPr>
      </p:sp>
      <p:sp>
        <p:nvSpPr>
          <p:cNvPr id="43" name="Shape 41"/>
          <p:cNvSpPr/>
          <p:nvPr/>
        </p:nvSpPr>
        <p:spPr>
          <a:xfrm>
            <a:off x="11093053" y="5194250"/>
            <a:ext cx="38100" cy="1328738"/>
          </a:xfrm>
          <a:prstGeom prst="rect">
            <a:avLst/>
          </a:prstGeom>
          <a:solidFill>
            <a:srgbClr val="39B14C"/>
          </a:solidFill>
          <a:ln/>
        </p:spPr>
      </p:sp>
      <p:sp>
        <p:nvSpPr>
          <p:cNvPr id="44" name="Text 42"/>
          <p:cNvSpPr/>
          <p:nvPr/>
        </p:nvSpPr>
        <p:spPr>
          <a:xfrm>
            <a:off x="11340703" y="5365700"/>
            <a:ext cx="653141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Транзакционный кейс = БД + RAG</a:t>
            </a:r>
            <a:endParaRPr lang="en-US" sz="1875" dirty="0"/>
          </a:p>
        </p:txBody>
      </p:sp>
      <p:sp>
        <p:nvSpPr>
          <p:cNvPr id="45" name="Text 43"/>
          <p:cNvSpPr/>
          <p:nvPr/>
        </p:nvSpPr>
        <p:spPr>
          <a:xfrm>
            <a:off x="11340703" y="5684788"/>
            <a:ext cx="611577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47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query_db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может дополнительно уйти в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47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retrieve_rag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11093053" y="6675388"/>
            <a:ext cx="6394847" cy="1304925"/>
          </a:xfrm>
          <a:prstGeom prst="rect">
            <a:avLst/>
          </a:prstGeom>
          <a:solidFill>
            <a:srgbClr val="F4FAF5"/>
          </a:solidFill>
          <a:ln/>
        </p:spPr>
      </p:sp>
      <p:sp>
        <p:nvSpPr>
          <p:cNvPr id="47" name="Shape 45"/>
          <p:cNvSpPr/>
          <p:nvPr/>
        </p:nvSpPr>
        <p:spPr>
          <a:xfrm>
            <a:off x="11093053" y="6675388"/>
            <a:ext cx="38100" cy="1304925"/>
          </a:xfrm>
          <a:prstGeom prst="rect">
            <a:avLst/>
          </a:prstGeom>
          <a:solidFill>
            <a:srgbClr val="39B14C"/>
          </a:solidFill>
          <a:ln/>
        </p:spPr>
      </p:sp>
      <p:sp>
        <p:nvSpPr>
          <p:cNvPr id="48" name="Text 46"/>
          <p:cNvSpPr/>
          <p:nvPr/>
        </p:nvSpPr>
        <p:spPr>
          <a:xfrm>
            <a:off x="11340703" y="6846838"/>
            <a:ext cx="653141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выхода</a:t>
            </a:r>
            <a:endParaRPr lang="en-US" sz="1875" dirty="0"/>
          </a:p>
        </p:txBody>
      </p:sp>
      <p:sp>
        <p:nvSpPr>
          <p:cNvPr id="49" name="Text 47"/>
          <p:cNvSpPr/>
          <p:nvPr/>
        </p:nvSpPr>
        <p:spPr>
          <a:xfrm>
            <a:off x="11340703" y="7165925"/>
            <a:ext cx="6115776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47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generate_answer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ответ с грунтингом;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 </a:t>
            </a:r>
            <a:pPr algn="l" indent="0" marL="0">
              <a:lnSpc>
                <a:spcPct val="130000"/>
              </a:lnSpc>
              <a:buNone/>
            </a:pPr>
            <a:r>
              <a:rPr lang="en-US" sz="1875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пакет оператору.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" y="514350"/>
            <a:ext cx="400050" cy="400050"/>
          </a:xfrm>
          <a:prstGeom prst="roundRect">
            <a:avLst>
              <a:gd name="adj" fmla="val 30952"/>
            </a:avLst>
          </a:prstGeom>
          <a:gradFill rotWithShape="1">
            <a:gsLst>
              <a:gs pos="0">
                <a:srgbClr val="39B14C">
                  <a:alpha val="100000"/>
                </a:srgbClr>
              </a:gs>
              <a:gs pos="100000">
                <a:srgbClr val="2E7D32">
                  <a:alpha val="100000"/>
                </a:srgbClr>
              </a:gs>
            </a:gsLst>
            <a:lin ang="3600000" scaled="0"/>
          </a:gradFill>
          <a:ln/>
          <a:effectLst>
            <a:outerShdw sx="100000" sy="100000" kx="0" ky="0" algn="bl" rotWithShape="0" blurRad="133350" dist="47625" dir="5400000">
              <a:srgbClr val="2E7D32">
                <a:alpha val="2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85838" y="695325"/>
            <a:ext cx="28575" cy="1428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 rot="-720001">
            <a:off x="876300" y="619125"/>
            <a:ext cx="114300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 rot="720001">
            <a:off x="1009650" y="619125"/>
            <a:ext cx="114300" cy="1143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23975" y="550069"/>
            <a:ext cx="85375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19" kern="0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МСБ</a:t>
            </a:r>
            <a:pPr algn="l" indent="0" marL="0">
              <a:buNone/>
            </a:pPr>
            <a:r>
              <a:rPr lang="en-US" sz="1875" b="1" spc="-19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.ai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4390712" y="559594"/>
            <a:ext cx="340690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СКВОЗНАЯ ОЦЕНКА · 06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0100" y="1028700"/>
            <a:ext cx="117676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63" kern="0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Сквозная оценка: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spc="-63" kern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кейсов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spc="-63" kern="0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граф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00100" y="1638300"/>
            <a:ext cx="1176762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— GigaChat-Pro, судья — GigaChat Lite. Один прогон (кэш ответов), судья поверх кэша.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800100" y="2090738"/>
            <a:ext cx="4043363" cy="1171575"/>
          </a:xfrm>
          <a:prstGeom prst="roundRect">
            <a:avLst>
              <a:gd name="adj" fmla="val 13008"/>
            </a:avLst>
          </a:prstGeom>
          <a:solidFill>
            <a:srgbClr val="EAF5EC"/>
          </a:solidFill>
          <a:ln w="9525">
            <a:solidFill>
              <a:srgbClr val="CFE6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9175" y="2252663"/>
            <a:ext cx="396573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47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019175" y="2566988"/>
            <a:ext cx="396573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14913" y="2090738"/>
            <a:ext cx="4043363" cy="1171575"/>
          </a:xfrm>
          <a:prstGeom prst="roundRect">
            <a:avLst>
              <a:gd name="adj" fmla="val 13008"/>
            </a:avLst>
          </a:prstGeom>
          <a:solidFill>
            <a:srgbClr val="EAF5EC"/>
          </a:solidFill>
          <a:ln w="9525">
            <a:solidFill>
              <a:srgbClr val="CFE6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3988" y="2252663"/>
            <a:ext cx="396573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47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5233988" y="2566988"/>
            <a:ext cx="396573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9229725" y="2090738"/>
            <a:ext cx="4043363" cy="1171575"/>
          </a:xfrm>
          <a:prstGeom prst="roundRect">
            <a:avLst>
              <a:gd name="adj" fmla="val 13008"/>
            </a:avLst>
          </a:prstGeom>
          <a:solidFill>
            <a:srgbClr val="EAF5EC"/>
          </a:solidFill>
          <a:ln w="9525">
            <a:solidFill>
              <a:srgbClr val="CFE6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48800" y="2252663"/>
            <a:ext cx="396573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47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448800" y="2566988"/>
            <a:ext cx="396573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200" dirty="0"/>
          </a:p>
        </p:txBody>
      </p:sp>
      <p:sp>
        <p:nvSpPr>
          <p:cNvPr id="19" name="Shape 17"/>
          <p:cNvSpPr/>
          <p:nvPr/>
        </p:nvSpPr>
        <p:spPr>
          <a:xfrm>
            <a:off x="13444538" y="2090738"/>
            <a:ext cx="4043363" cy="1171575"/>
          </a:xfrm>
          <a:prstGeom prst="roundRect">
            <a:avLst>
              <a:gd name="adj" fmla="val 13008"/>
            </a:avLst>
          </a:prstGeom>
          <a:gradFill rotWithShape="1">
            <a:gsLst>
              <a:gs pos="0">
                <a:srgbClr val="2E7D32">
                  <a:alpha val="100000"/>
                </a:srgbClr>
              </a:gs>
              <a:gs pos="100000">
                <a:srgbClr val="1B5E20">
                  <a:alpha val="100000"/>
                </a:srgbClr>
              </a:gs>
            </a:gsLst>
            <a:lin ang="3900000" scaled="0"/>
          </a:gradFill>
          <a:ln/>
          <a:effectLst>
            <a:outerShdw sx="100000" sy="100000" kx="0" ky="0" algn="bl" rotWithShape="0" blurRad="190500" dist="76200" dir="5400000">
              <a:srgbClr val="1B5E2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654088" y="2243138"/>
            <a:ext cx="39866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BFE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3654088" y="2557463"/>
            <a:ext cx="398668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200" dirty="0"/>
          </a:p>
        </p:txBody>
      </p:sp>
      <p:sp>
        <p:nvSpPr>
          <p:cNvPr id="22" name="Shape 20"/>
          <p:cNvSpPr/>
          <p:nvPr/>
        </p:nvSpPr>
        <p:spPr>
          <a:xfrm>
            <a:off x="800100" y="3433763"/>
            <a:ext cx="10327184" cy="438150"/>
          </a:xfrm>
          <a:prstGeom prst="rect">
            <a:avLst/>
          </a:prstGeom>
          <a:solidFill>
            <a:srgbClr val="EAF5EC"/>
          </a:solidFill>
          <a:ln/>
        </p:spPr>
      </p:sp>
      <p:sp>
        <p:nvSpPr>
          <p:cNvPr id="23" name="Text 21"/>
          <p:cNvSpPr/>
          <p:nvPr/>
        </p:nvSpPr>
        <p:spPr>
          <a:xfrm>
            <a:off x="933450" y="3519488"/>
            <a:ext cx="32665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7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268539" y="3519488"/>
            <a:ext cx="6532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97946" y="3519488"/>
            <a:ext cx="12611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7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11516" y="3519488"/>
            <a:ext cx="12449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7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08863" y="3519488"/>
            <a:ext cx="8641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7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25433" y="3519488"/>
            <a:ext cx="10820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7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78938" y="3519488"/>
            <a:ext cx="9149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77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00100" y="4338638"/>
            <a:ext cx="3430339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31" name="Text 29"/>
          <p:cNvSpPr/>
          <p:nvPr/>
        </p:nvSpPr>
        <p:spPr>
          <a:xfrm>
            <a:off x="933450" y="3957638"/>
            <a:ext cx="3266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230439" y="4338638"/>
            <a:ext cx="729407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33" name="Text 31"/>
          <p:cNvSpPr/>
          <p:nvPr/>
        </p:nvSpPr>
        <p:spPr>
          <a:xfrm>
            <a:off x="4268539" y="3957638"/>
            <a:ext cx="6532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959846" y="4338638"/>
            <a:ext cx="1413570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35" name="Text 33"/>
          <p:cNvSpPr/>
          <p:nvPr/>
        </p:nvSpPr>
        <p:spPr>
          <a:xfrm>
            <a:off x="4997946" y="3957638"/>
            <a:ext cx="12611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373416" y="4338638"/>
            <a:ext cx="1397347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37" name="Text 35"/>
          <p:cNvSpPr/>
          <p:nvPr/>
        </p:nvSpPr>
        <p:spPr>
          <a:xfrm>
            <a:off x="6411516" y="3957638"/>
            <a:ext cx="12449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770763" y="4338638"/>
            <a:ext cx="1016571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39" name="Text 37"/>
          <p:cNvSpPr/>
          <p:nvPr/>
        </p:nvSpPr>
        <p:spPr>
          <a:xfrm>
            <a:off x="7808863" y="3957638"/>
            <a:ext cx="8641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B7C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787333" y="4338638"/>
            <a:ext cx="123445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41" name="Text 39"/>
          <p:cNvSpPr/>
          <p:nvPr/>
        </p:nvSpPr>
        <p:spPr>
          <a:xfrm>
            <a:off x="8825433" y="3957638"/>
            <a:ext cx="10820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0021788" y="4338638"/>
            <a:ext cx="110549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43" name="Text 41"/>
          <p:cNvSpPr/>
          <p:nvPr/>
        </p:nvSpPr>
        <p:spPr>
          <a:xfrm>
            <a:off x="10078938" y="3957638"/>
            <a:ext cx="9149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00100" y="4819650"/>
            <a:ext cx="3430339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45" name="Text 43"/>
          <p:cNvSpPr/>
          <p:nvPr/>
        </p:nvSpPr>
        <p:spPr>
          <a:xfrm>
            <a:off x="933450" y="4433888"/>
            <a:ext cx="32665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transactional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4230439" y="4819650"/>
            <a:ext cx="729407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47" name="Text 45"/>
          <p:cNvSpPr/>
          <p:nvPr/>
        </p:nvSpPr>
        <p:spPr>
          <a:xfrm>
            <a:off x="4268539" y="4433888"/>
            <a:ext cx="65320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959846" y="4819650"/>
            <a:ext cx="1413570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49" name="Text 47"/>
          <p:cNvSpPr/>
          <p:nvPr/>
        </p:nvSpPr>
        <p:spPr>
          <a:xfrm>
            <a:off x="4997946" y="4433888"/>
            <a:ext cx="126117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6373416" y="4819650"/>
            <a:ext cx="1397347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51" name="Text 49"/>
          <p:cNvSpPr/>
          <p:nvPr/>
        </p:nvSpPr>
        <p:spPr>
          <a:xfrm>
            <a:off x="6411516" y="4433888"/>
            <a:ext cx="124494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7770763" y="4819650"/>
            <a:ext cx="1016571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53" name="Text 51"/>
          <p:cNvSpPr/>
          <p:nvPr/>
        </p:nvSpPr>
        <p:spPr>
          <a:xfrm>
            <a:off x="7808863" y="4433888"/>
            <a:ext cx="86417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B7C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8787333" y="4819650"/>
            <a:ext cx="123445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55" name="Text 53"/>
          <p:cNvSpPr/>
          <p:nvPr/>
        </p:nvSpPr>
        <p:spPr>
          <a:xfrm>
            <a:off x="8825433" y="4433888"/>
            <a:ext cx="10820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0021788" y="4819650"/>
            <a:ext cx="110549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57" name="Text 55"/>
          <p:cNvSpPr/>
          <p:nvPr/>
        </p:nvSpPr>
        <p:spPr>
          <a:xfrm>
            <a:off x="10078938" y="4433888"/>
            <a:ext cx="9149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800100" y="5300663"/>
            <a:ext cx="3430339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59" name="Text 57"/>
          <p:cNvSpPr/>
          <p:nvPr/>
        </p:nvSpPr>
        <p:spPr>
          <a:xfrm>
            <a:off x="933450" y="4914900"/>
            <a:ext cx="32665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escalation_sales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4230439" y="5300663"/>
            <a:ext cx="729407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61" name="Text 59"/>
          <p:cNvSpPr/>
          <p:nvPr/>
        </p:nvSpPr>
        <p:spPr>
          <a:xfrm>
            <a:off x="4268539" y="4914900"/>
            <a:ext cx="65320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4959846" y="5300663"/>
            <a:ext cx="1413570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63" name="Text 61"/>
          <p:cNvSpPr/>
          <p:nvPr/>
        </p:nvSpPr>
        <p:spPr>
          <a:xfrm>
            <a:off x="4997946" y="4914900"/>
            <a:ext cx="126117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6373416" y="5300663"/>
            <a:ext cx="1397347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65" name="Text 63"/>
          <p:cNvSpPr/>
          <p:nvPr/>
        </p:nvSpPr>
        <p:spPr>
          <a:xfrm>
            <a:off x="6411516" y="4914900"/>
            <a:ext cx="124494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7770763" y="5300663"/>
            <a:ext cx="1016571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67" name="Text 65"/>
          <p:cNvSpPr/>
          <p:nvPr/>
        </p:nvSpPr>
        <p:spPr>
          <a:xfrm>
            <a:off x="7808863" y="4914900"/>
            <a:ext cx="86417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8787333" y="5300663"/>
            <a:ext cx="123445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69" name="Text 67"/>
          <p:cNvSpPr/>
          <p:nvPr/>
        </p:nvSpPr>
        <p:spPr>
          <a:xfrm>
            <a:off x="8825433" y="4914900"/>
            <a:ext cx="10820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B7C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0021788" y="5300663"/>
            <a:ext cx="110549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71" name="Text 69"/>
          <p:cNvSpPr/>
          <p:nvPr/>
        </p:nvSpPr>
        <p:spPr>
          <a:xfrm>
            <a:off x="10078938" y="4914900"/>
            <a:ext cx="9149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800100" y="5781675"/>
            <a:ext cx="3430339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73" name="Text 71"/>
          <p:cNvSpPr/>
          <p:nvPr/>
        </p:nvSpPr>
        <p:spPr>
          <a:xfrm>
            <a:off x="933450" y="5395913"/>
            <a:ext cx="32665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escalation_negative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4230439" y="5781675"/>
            <a:ext cx="729407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75" name="Text 73"/>
          <p:cNvSpPr/>
          <p:nvPr/>
        </p:nvSpPr>
        <p:spPr>
          <a:xfrm>
            <a:off x="4268539" y="5395913"/>
            <a:ext cx="65320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4959846" y="5781675"/>
            <a:ext cx="1413570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77" name="Text 75"/>
          <p:cNvSpPr/>
          <p:nvPr/>
        </p:nvSpPr>
        <p:spPr>
          <a:xfrm>
            <a:off x="4997946" y="5395913"/>
            <a:ext cx="126117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6373416" y="5781675"/>
            <a:ext cx="1397347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79" name="Text 77"/>
          <p:cNvSpPr/>
          <p:nvPr/>
        </p:nvSpPr>
        <p:spPr>
          <a:xfrm>
            <a:off x="6411516" y="5395913"/>
            <a:ext cx="124494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7770763" y="5781675"/>
            <a:ext cx="1016571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81" name="Text 79"/>
          <p:cNvSpPr/>
          <p:nvPr/>
        </p:nvSpPr>
        <p:spPr>
          <a:xfrm>
            <a:off x="7808863" y="5395913"/>
            <a:ext cx="86417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8787333" y="5781675"/>
            <a:ext cx="123445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83" name="Text 81"/>
          <p:cNvSpPr/>
          <p:nvPr/>
        </p:nvSpPr>
        <p:spPr>
          <a:xfrm>
            <a:off x="8825433" y="5395913"/>
            <a:ext cx="10820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B7C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10021788" y="5781675"/>
            <a:ext cx="110549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85" name="Text 83"/>
          <p:cNvSpPr/>
          <p:nvPr/>
        </p:nvSpPr>
        <p:spPr>
          <a:xfrm>
            <a:off x="10078938" y="5395913"/>
            <a:ext cx="9149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800" dirty="0"/>
          </a:p>
        </p:txBody>
      </p:sp>
      <p:sp>
        <p:nvSpPr>
          <p:cNvPr id="86" name="Shape 84"/>
          <p:cNvSpPr/>
          <p:nvPr/>
        </p:nvSpPr>
        <p:spPr>
          <a:xfrm>
            <a:off x="800100" y="6262688"/>
            <a:ext cx="3430339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87" name="Text 85"/>
          <p:cNvSpPr/>
          <p:nvPr/>
        </p:nvSpPr>
        <p:spPr>
          <a:xfrm>
            <a:off x="933450" y="5876925"/>
            <a:ext cx="32665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edge_no_data</a:t>
            </a:r>
            <a:endParaRPr lang="en-US" sz="1800" dirty="0"/>
          </a:p>
        </p:txBody>
      </p:sp>
      <p:sp>
        <p:nvSpPr>
          <p:cNvPr id="88" name="Shape 86"/>
          <p:cNvSpPr/>
          <p:nvPr/>
        </p:nvSpPr>
        <p:spPr>
          <a:xfrm>
            <a:off x="4230439" y="6262688"/>
            <a:ext cx="729407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89" name="Text 87"/>
          <p:cNvSpPr/>
          <p:nvPr/>
        </p:nvSpPr>
        <p:spPr>
          <a:xfrm>
            <a:off x="4268539" y="5876925"/>
            <a:ext cx="65320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90" name="Shape 88"/>
          <p:cNvSpPr/>
          <p:nvPr/>
        </p:nvSpPr>
        <p:spPr>
          <a:xfrm>
            <a:off x="4959846" y="6262688"/>
            <a:ext cx="1413570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91" name="Text 89"/>
          <p:cNvSpPr/>
          <p:nvPr/>
        </p:nvSpPr>
        <p:spPr>
          <a:xfrm>
            <a:off x="4997946" y="5876925"/>
            <a:ext cx="126117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6373416" y="6262688"/>
            <a:ext cx="1397347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93" name="Text 91"/>
          <p:cNvSpPr/>
          <p:nvPr/>
        </p:nvSpPr>
        <p:spPr>
          <a:xfrm>
            <a:off x="6411516" y="5876925"/>
            <a:ext cx="124494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7770763" y="6262688"/>
            <a:ext cx="1016571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95" name="Text 93"/>
          <p:cNvSpPr/>
          <p:nvPr/>
        </p:nvSpPr>
        <p:spPr>
          <a:xfrm>
            <a:off x="7808863" y="5876925"/>
            <a:ext cx="86417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B7C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96" name="Shape 94"/>
          <p:cNvSpPr/>
          <p:nvPr/>
        </p:nvSpPr>
        <p:spPr>
          <a:xfrm>
            <a:off x="8787333" y="6262688"/>
            <a:ext cx="123445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97" name="Text 95"/>
          <p:cNvSpPr/>
          <p:nvPr/>
        </p:nvSpPr>
        <p:spPr>
          <a:xfrm>
            <a:off x="8825433" y="5876925"/>
            <a:ext cx="10820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B7C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10021788" y="6262688"/>
            <a:ext cx="110549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99" name="Text 97"/>
          <p:cNvSpPr/>
          <p:nvPr/>
        </p:nvSpPr>
        <p:spPr>
          <a:xfrm>
            <a:off x="10078938" y="5876925"/>
            <a:ext cx="9149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800" dirty="0"/>
          </a:p>
        </p:txBody>
      </p:sp>
      <p:sp>
        <p:nvSpPr>
          <p:cNvPr id="100" name="Shape 98"/>
          <p:cNvSpPr/>
          <p:nvPr/>
        </p:nvSpPr>
        <p:spPr>
          <a:xfrm>
            <a:off x="800100" y="6743700"/>
            <a:ext cx="3430339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01" name="Text 99"/>
          <p:cNvSpPr/>
          <p:nvPr/>
        </p:nvSpPr>
        <p:spPr>
          <a:xfrm>
            <a:off x="933450" y="6357938"/>
            <a:ext cx="32665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edge_conflict</a:t>
            </a:r>
            <a:endParaRPr lang="en-US" sz="1800" dirty="0"/>
          </a:p>
        </p:txBody>
      </p:sp>
      <p:sp>
        <p:nvSpPr>
          <p:cNvPr id="102" name="Shape 100"/>
          <p:cNvSpPr/>
          <p:nvPr/>
        </p:nvSpPr>
        <p:spPr>
          <a:xfrm>
            <a:off x="4230439" y="6743700"/>
            <a:ext cx="729407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03" name="Text 101"/>
          <p:cNvSpPr/>
          <p:nvPr/>
        </p:nvSpPr>
        <p:spPr>
          <a:xfrm>
            <a:off x="4268539" y="6357938"/>
            <a:ext cx="65320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104" name="Shape 102"/>
          <p:cNvSpPr/>
          <p:nvPr/>
        </p:nvSpPr>
        <p:spPr>
          <a:xfrm>
            <a:off x="4959846" y="6743700"/>
            <a:ext cx="1413570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05" name="Text 103"/>
          <p:cNvSpPr/>
          <p:nvPr/>
        </p:nvSpPr>
        <p:spPr>
          <a:xfrm>
            <a:off x="4997946" y="6357938"/>
            <a:ext cx="126117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800" dirty="0"/>
          </a:p>
        </p:txBody>
      </p:sp>
      <p:sp>
        <p:nvSpPr>
          <p:cNvPr id="106" name="Shape 104"/>
          <p:cNvSpPr/>
          <p:nvPr/>
        </p:nvSpPr>
        <p:spPr>
          <a:xfrm>
            <a:off x="6373416" y="6743700"/>
            <a:ext cx="1397347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07" name="Text 105"/>
          <p:cNvSpPr/>
          <p:nvPr/>
        </p:nvSpPr>
        <p:spPr>
          <a:xfrm>
            <a:off x="6411516" y="6357938"/>
            <a:ext cx="124494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800" dirty="0"/>
          </a:p>
        </p:txBody>
      </p:sp>
      <p:sp>
        <p:nvSpPr>
          <p:cNvPr id="108" name="Shape 106"/>
          <p:cNvSpPr/>
          <p:nvPr/>
        </p:nvSpPr>
        <p:spPr>
          <a:xfrm>
            <a:off x="7770763" y="6743700"/>
            <a:ext cx="1016571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09" name="Text 107"/>
          <p:cNvSpPr/>
          <p:nvPr/>
        </p:nvSpPr>
        <p:spPr>
          <a:xfrm>
            <a:off x="7808863" y="6357938"/>
            <a:ext cx="86417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B7C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110" name="Shape 108"/>
          <p:cNvSpPr/>
          <p:nvPr/>
        </p:nvSpPr>
        <p:spPr>
          <a:xfrm>
            <a:off x="8787333" y="6743700"/>
            <a:ext cx="123445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11" name="Text 109"/>
          <p:cNvSpPr/>
          <p:nvPr/>
        </p:nvSpPr>
        <p:spPr>
          <a:xfrm>
            <a:off x="8825433" y="6357938"/>
            <a:ext cx="10820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800" dirty="0"/>
          </a:p>
        </p:txBody>
      </p:sp>
      <p:sp>
        <p:nvSpPr>
          <p:cNvPr id="112" name="Shape 110"/>
          <p:cNvSpPr/>
          <p:nvPr/>
        </p:nvSpPr>
        <p:spPr>
          <a:xfrm>
            <a:off x="10021788" y="6743700"/>
            <a:ext cx="110549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13" name="Text 111"/>
          <p:cNvSpPr/>
          <p:nvPr/>
        </p:nvSpPr>
        <p:spPr>
          <a:xfrm>
            <a:off x="10078938" y="6357938"/>
            <a:ext cx="9149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800" dirty="0"/>
          </a:p>
        </p:txBody>
      </p:sp>
      <p:sp>
        <p:nvSpPr>
          <p:cNvPr id="114" name="Shape 112"/>
          <p:cNvSpPr/>
          <p:nvPr/>
        </p:nvSpPr>
        <p:spPr>
          <a:xfrm>
            <a:off x="800100" y="7224713"/>
            <a:ext cx="3430339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15" name="Text 113"/>
          <p:cNvSpPr/>
          <p:nvPr/>
        </p:nvSpPr>
        <p:spPr>
          <a:xfrm>
            <a:off x="933450" y="6838950"/>
            <a:ext cx="32665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edge_manipulation</a:t>
            </a:r>
            <a:endParaRPr lang="en-US" sz="1800" dirty="0"/>
          </a:p>
        </p:txBody>
      </p:sp>
      <p:sp>
        <p:nvSpPr>
          <p:cNvPr id="116" name="Shape 114"/>
          <p:cNvSpPr/>
          <p:nvPr/>
        </p:nvSpPr>
        <p:spPr>
          <a:xfrm>
            <a:off x="4230439" y="7224713"/>
            <a:ext cx="729407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17" name="Text 115"/>
          <p:cNvSpPr/>
          <p:nvPr/>
        </p:nvSpPr>
        <p:spPr>
          <a:xfrm>
            <a:off x="4268539" y="6838950"/>
            <a:ext cx="65320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118" name="Shape 116"/>
          <p:cNvSpPr/>
          <p:nvPr/>
        </p:nvSpPr>
        <p:spPr>
          <a:xfrm>
            <a:off x="4959846" y="7224713"/>
            <a:ext cx="1413570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19" name="Text 117"/>
          <p:cNvSpPr/>
          <p:nvPr/>
        </p:nvSpPr>
        <p:spPr>
          <a:xfrm>
            <a:off x="4997946" y="6838950"/>
            <a:ext cx="126117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800" dirty="0"/>
          </a:p>
        </p:txBody>
      </p:sp>
      <p:sp>
        <p:nvSpPr>
          <p:cNvPr id="120" name="Shape 118"/>
          <p:cNvSpPr/>
          <p:nvPr/>
        </p:nvSpPr>
        <p:spPr>
          <a:xfrm>
            <a:off x="6373416" y="7224713"/>
            <a:ext cx="1397347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21" name="Text 119"/>
          <p:cNvSpPr/>
          <p:nvPr/>
        </p:nvSpPr>
        <p:spPr>
          <a:xfrm>
            <a:off x="6411516" y="6838950"/>
            <a:ext cx="124494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800" dirty="0"/>
          </a:p>
        </p:txBody>
      </p:sp>
      <p:sp>
        <p:nvSpPr>
          <p:cNvPr id="122" name="Shape 120"/>
          <p:cNvSpPr/>
          <p:nvPr/>
        </p:nvSpPr>
        <p:spPr>
          <a:xfrm>
            <a:off x="7770763" y="7224713"/>
            <a:ext cx="1016571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23" name="Text 121"/>
          <p:cNvSpPr/>
          <p:nvPr/>
        </p:nvSpPr>
        <p:spPr>
          <a:xfrm>
            <a:off x="7808863" y="6838950"/>
            <a:ext cx="86417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B7C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124" name="Shape 122"/>
          <p:cNvSpPr/>
          <p:nvPr/>
        </p:nvSpPr>
        <p:spPr>
          <a:xfrm>
            <a:off x="8787333" y="7224713"/>
            <a:ext cx="123445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25" name="Text 123"/>
          <p:cNvSpPr/>
          <p:nvPr/>
        </p:nvSpPr>
        <p:spPr>
          <a:xfrm>
            <a:off x="8825433" y="6838950"/>
            <a:ext cx="10820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B7C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126" name="Shape 124"/>
          <p:cNvSpPr/>
          <p:nvPr/>
        </p:nvSpPr>
        <p:spPr>
          <a:xfrm>
            <a:off x="10021788" y="7224713"/>
            <a:ext cx="110549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27" name="Text 125"/>
          <p:cNvSpPr/>
          <p:nvPr/>
        </p:nvSpPr>
        <p:spPr>
          <a:xfrm>
            <a:off x="10078938" y="6838950"/>
            <a:ext cx="9149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B3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800" dirty="0"/>
          </a:p>
        </p:txBody>
      </p:sp>
      <p:sp>
        <p:nvSpPr>
          <p:cNvPr id="128" name="Shape 126"/>
          <p:cNvSpPr/>
          <p:nvPr/>
        </p:nvSpPr>
        <p:spPr>
          <a:xfrm>
            <a:off x="800100" y="7705725"/>
            <a:ext cx="3430339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29" name="Text 127"/>
          <p:cNvSpPr/>
          <p:nvPr/>
        </p:nvSpPr>
        <p:spPr>
          <a:xfrm>
            <a:off x="933450" y="7319962"/>
            <a:ext cx="32665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offtopic</a:t>
            </a:r>
            <a:endParaRPr lang="en-US" sz="1800" dirty="0"/>
          </a:p>
        </p:txBody>
      </p:sp>
      <p:sp>
        <p:nvSpPr>
          <p:cNvPr id="130" name="Shape 128"/>
          <p:cNvSpPr/>
          <p:nvPr/>
        </p:nvSpPr>
        <p:spPr>
          <a:xfrm>
            <a:off x="4230439" y="7705725"/>
            <a:ext cx="729407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31" name="Text 129"/>
          <p:cNvSpPr/>
          <p:nvPr/>
        </p:nvSpPr>
        <p:spPr>
          <a:xfrm>
            <a:off x="4268539" y="7319962"/>
            <a:ext cx="65320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DA3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132" name="Shape 130"/>
          <p:cNvSpPr/>
          <p:nvPr/>
        </p:nvSpPr>
        <p:spPr>
          <a:xfrm>
            <a:off x="4959846" y="7705725"/>
            <a:ext cx="1413570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33" name="Text 131"/>
          <p:cNvSpPr/>
          <p:nvPr/>
        </p:nvSpPr>
        <p:spPr>
          <a:xfrm>
            <a:off x="4997946" y="7319962"/>
            <a:ext cx="126117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134" name="Shape 132"/>
          <p:cNvSpPr/>
          <p:nvPr/>
        </p:nvSpPr>
        <p:spPr>
          <a:xfrm>
            <a:off x="6373416" y="7705725"/>
            <a:ext cx="1397347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11516" y="7319962"/>
            <a:ext cx="124494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136" name="Shape 134"/>
          <p:cNvSpPr/>
          <p:nvPr/>
        </p:nvSpPr>
        <p:spPr>
          <a:xfrm>
            <a:off x="7770763" y="7705725"/>
            <a:ext cx="1016571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37" name="Text 135"/>
          <p:cNvSpPr/>
          <p:nvPr/>
        </p:nvSpPr>
        <p:spPr>
          <a:xfrm>
            <a:off x="7808863" y="7319962"/>
            <a:ext cx="86417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B7C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138" name="Shape 136"/>
          <p:cNvSpPr/>
          <p:nvPr/>
        </p:nvSpPr>
        <p:spPr>
          <a:xfrm>
            <a:off x="8787333" y="7705725"/>
            <a:ext cx="123445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39" name="Text 137"/>
          <p:cNvSpPr/>
          <p:nvPr/>
        </p:nvSpPr>
        <p:spPr>
          <a:xfrm>
            <a:off x="8825433" y="7319962"/>
            <a:ext cx="10820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B7C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140" name="Shape 138"/>
          <p:cNvSpPr/>
          <p:nvPr/>
        </p:nvSpPr>
        <p:spPr>
          <a:xfrm>
            <a:off x="10021788" y="7705725"/>
            <a:ext cx="1105495" cy="9525"/>
          </a:xfrm>
          <a:prstGeom prst="rect">
            <a:avLst/>
          </a:prstGeom>
          <a:solidFill>
            <a:srgbClr val="EAF1EC"/>
          </a:solidFill>
          <a:ln/>
        </p:spPr>
      </p:sp>
      <p:sp>
        <p:nvSpPr>
          <p:cNvPr id="141" name="Text 139"/>
          <p:cNvSpPr/>
          <p:nvPr/>
        </p:nvSpPr>
        <p:spPr>
          <a:xfrm>
            <a:off x="10078938" y="7319962"/>
            <a:ext cx="9149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142" name="Shape 140"/>
          <p:cNvSpPr/>
          <p:nvPr/>
        </p:nvSpPr>
        <p:spPr>
          <a:xfrm>
            <a:off x="800100" y="7715250"/>
            <a:ext cx="10327184" cy="481012"/>
          </a:xfrm>
          <a:prstGeom prst="rect">
            <a:avLst/>
          </a:prstGeom>
          <a:solidFill>
            <a:srgbClr val="F4FAF5"/>
          </a:solidFill>
          <a:ln/>
        </p:spPr>
      </p:sp>
      <p:sp>
        <p:nvSpPr>
          <p:cNvPr id="143" name="Text 141"/>
          <p:cNvSpPr/>
          <p:nvPr/>
        </p:nvSpPr>
        <p:spPr>
          <a:xfrm>
            <a:off x="933450" y="7820025"/>
            <a:ext cx="326655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</a:t>
            </a:r>
            <a:endParaRPr lang="en-US" sz="1800" dirty="0"/>
          </a:p>
        </p:txBody>
      </p:sp>
      <p:sp>
        <p:nvSpPr>
          <p:cNvPr id="144" name="Text 142"/>
          <p:cNvSpPr/>
          <p:nvPr/>
        </p:nvSpPr>
        <p:spPr>
          <a:xfrm>
            <a:off x="4268539" y="7820025"/>
            <a:ext cx="65320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1800" dirty="0"/>
          </a:p>
        </p:txBody>
      </p:sp>
      <p:sp>
        <p:nvSpPr>
          <p:cNvPr id="145" name="Text 143"/>
          <p:cNvSpPr/>
          <p:nvPr/>
        </p:nvSpPr>
        <p:spPr>
          <a:xfrm>
            <a:off x="4997946" y="7820025"/>
            <a:ext cx="126117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1800" dirty="0"/>
          </a:p>
        </p:txBody>
      </p:sp>
      <p:sp>
        <p:nvSpPr>
          <p:cNvPr id="146" name="Text 144"/>
          <p:cNvSpPr/>
          <p:nvPr/>
        </p:nvSpPr>
        <p:spPr>
          <a:xfrm>
            <a:off x="6411516" y="7820025"/>
            <a:ext cx="124494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800" dirty="0"/>
          </a:p>
        </p:txBody>
      </p:sp>
      <p:sp>
        <p:nvSpPr>
          <p:cNvPr id="147" name="Text 145"/>
          <p:cNvSpPr/>
          <p:nvPr/>
        </p:nvSpPr>
        <p:spPr>
          <a:xfrm>
            <a:off x="7808863" y="7820025"/>
            <a:ext cx="86417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B7C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148" name="Text 146"/>
          <p:cNvSpPr/>
          <p:nvPr/>
        </p:nvSpPr>
        <p:spPr>
          <a:xfrm>
            <a:off x="8825433" y="7820025"/>
            <a:ext cx="108205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800" dirty="0"/>
          </a:p>
        </p:txBody>
      </p:sp>
      <p:sp>
        <p:nvSpPr>
          <p:cNvPr id="149" name="Text 147"/>
          <p:cNvSpPr/>
          <p:nvPr/>
        </p:nvSpPr>
        <p:spPr>
          <a:xfrm>
            <a:off x="10078938" y="7820025"/>
            <a:ext cx="91499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800" dirty="0"/>
          </a:p>
        </p:txBody>
      </p:sp>
      <p:sp>
        <p:nvSpPr>
          <p:cNvPr id="150" name="Shape 148"/>
          <p:cNvSpPr/>
          <p:nvPr/>
        </p:nvSpPr>
        <p:spPr>
          <a:xfrm>
            <a:off x="11413034" y="3433763"/>
            <a:ext cx="6074866" cy="1166217"/>
          </a:xfrm>
          <a:prstGeom prst="roundRect">
            <a:avLst>
              <a:gd name="adj" fmla="val 11434"/>
            </a:avLst>
          </a:prstGeom>
          <a:solidFill>
            <a:srgbClr val="EAF5EC"/>
          </a:solidFill>
          <a:ln/>
        </p:spPr>
      </p:sp>
      <p:sp>
        <p:nvSpPr>
          <p:cNvPr id="151" name="Text 149"/>
          <p:cNvSpPr/>
          <p:nvPr/>
        </p:nvSpPr>
        <p:spPr>
          <a:xfrm>
            <a:off x="11584484" y="3576638"/>
            <a:ext cx="63051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Сильные стороны</a:t>
            </a:r>
            <a:endParaRPr lang="en-US" sz="1800" dirty="0"/>
          </a:p>
        </p:txBody>
      </p:sp>
      <p:sp>
        <p:nvSpPr>
          <p:cNvPr id="152" name="Text 150"/>
          <p:cNvSpPr/>
          <p:nvPr/>
        </p:nvSpPr>
        <p:spPr>
          <a:xfrm>
            <a:off x="11584484" y="3871913"/>
            <a:ext cx="5903925" cy="623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Эскалации (judge 94%), offtopic 100%, грунтинг ответов (citation 67–89% на citable).</a:t>
            </a:r>
            <a:endParaRPr lang="en-US" sz="1800" dirty="0"/>
          </a:p>
        </p:txBody>
      </p:sp>
      <p:sp>
        <p:nvSpPr>
          <p:cNvPr id="153" name="Shape 151"/>
          <p:cNvSpPr/>
          <p:nvPr/>
        </p:nvSpPr>
        <p:spPr>
          <a:xfrm>
            <a:off x="11413034" y="4714280"/>
            <a:ext cx="6074866" cy="1477863"/>
          </a:xfrm>
          <a:prstGeom prst="roundRect">
            <a:avLst>
              <a:gd name="adj" fmla="val 9023"/>
            </a:avLst>
          </a:prstGeom>
          <a:solidFill>
            <a:srgbClr val="F4FAF5"/>
          </a:solidFill>
          <a:ln w="9525">
            <a:solidFill>
              <a:srgbClr val="E0EEE4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1594009" y="4866680"/>
            <a:ext cx="62842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Низкие category у edge_*</a:t>
            </a:r>
            <a:endParaRPr lang="en-US" sz="1800" dirty="0"/>
          </a:p>
        </p:txBody>
      </p:sp>
      <p:sp>
        <p:nvSpPr>
          <p:cNvPr id="155" name="Text 153"/>
          <p:cNvSpPr/>
          <p:nvPr/>
        </p:nvSpPr>
        <p:spPr>
          <a:xfrm>
            <a:off x="11594009" y="5161955"/>
            <a:ext cx="5884304" cy="915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отвечает как на info, и эталонный исход тоже info — по сути ответы корректны (outcome 78–89%, judge 78–89%).</a:t>
            </a:r>
            <a:endParaRPr lang="en-US" sz="1800" dirty="0"/>
          </a:p>
        </p:txBody>
      </p:sp>
      <p:sp>
        <p:nvSpPr>
          <p:cNvPr id="156" name="Shape 154"/>
          <p:cNvSpPr/>
          <p:nvPr/>
        </p:nvSpPr>
        <p:spPr>
          <a:xfrm>
            <a:off x="11413034" y="6306443"/>
            <a:ext cx="6074866" cy="892671"/>
          </a:xfrm>
          <a:prstGeom prst="roundRect">
            <a:avLst>
              <a:gd name="adj" fmla="val 14938"/>
            </a:avLst>
          </a:prstGeom>
          <a:solidFill>
            <a:srgbClr val="F4FAF5"/>
          </a:solidFill>
          <a:ln w="9525">
            <a:solidFill>
              <a:srgbClr val="E0EEE4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11594009" y="6458843"/>
            <a:ext cx="62842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Стохастичность</a:t>
            </a:r>
            <a:endParaRPr lang="en-US" sz="1800" dirty="0"/>
          </a:p>
        </p:txBody>
      </p:sp>
      <p:sp>
        <p:nvSpPr>
          <p:cNvPr id="158" name="Text 156"/>
          <p:cNvSpPr/>
          <p:nvPr/>
        </p:nvSpPr>
        <p:spPr>
          <a:xfrm>
            <a:off x="11594009" y="6754118"/>
            <a:ext cx="6284208" cy="330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dirty="0">
                <a:solidFill>
                  <a:srgbClr val="3C54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GigaChat: ±2–4 п.п. между прогонами — норма.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2026-06-16T12:42:08Z</dcterms:created>
  <dcterms:modified xsi:type="dcterms:W3CDTF">2026-06-16T12:42:08Z</dcterms:modified>
</cp:coreProperties>
</file>